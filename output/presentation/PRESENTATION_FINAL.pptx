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87032c9c8a4e50" /><Relationship Type="http://schemas.openxmlformats.org/officeDocument/2006/relationships/extended-properties" Target="/docProps/app.xml" Id="R5cbf454bedb64062" /><Relationship Type="http://schemas.openxmlformats.org/officeDocument/2006/relationships/officeDocument" Target="/ppt/presentation.xml" Id="R4e38fbc00443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7f1bd5e9445dd"/>
  </p:sldMasterIdLst>
  <p:notesMasterIdLst>
    <p:notesMasterId xmlns:r="http://schemas.openxmlformats.org/officeDocument/2006/relationships" r:id="Ra3350f1650004ed0"/>
  </p:notesMasterIdLst>
  <p:sldIdLst>
    <p:sldId xmlns:r="http://schemas.openxmlformats.org/officeDocument/2006/relationships" id="256" r:id="R4ababe62f92e4c91"/>
    <p:sldId xmlns:r="http://schemas.openxmlformats.org/officeDocument/2006/relationships" id="257" r:id="Rca50d8dc36964eb3"/>
    <p:sldId xmlns:r="http://schemas.openxmlformats.org/officeDocument/2006/relationships" id="258" r:id="R9529bd5deb3e4dca"/>
    <p:sldId xmlns:r="http://schemas.openxmlformats.org/officeDocument/2006/relationships" id="259" r:id="Rc8365f3ea72444cd"/>
    <p:sldId xmlns:r="http://schemas.openxmlformats.org/officeDocument/2006/relationships" id="260" r:id="R70689559036f49d6"/>
    <p:sldId xmlns:r="http://schemas.openxmlformats.org/officeDocument/2006/relationships" id="261" r:id="Recc7c2506a5c414d"/>
    <p:sldId xmlns:r="http://schemas.openxmlformats.org/officeDocument/2006/relationships" id="262" r:id="R4d3b832a6ec64465"/>
    <p:sldId xmlns:r="http://schemas.openxmlformats.org/officeDocument/2006/relationships" id="263" r:id="R07a47966b79b4b4c"/>
    <p:sldId xmlns:r="http://schemas.openxmlformats.org/officeDocument/2006/relationships" id="264" r:id="R0a0022bffd7642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2b520eca445fe" /><Relationship Type="http://schemas.openxmlformats.org/officeDocument/2006/relationships/slideMaster" Target="/ppt/slideMasters/slideMaster1.xml" Id="R9727f1bd5e9445dd" /><Relationship Type="http://schemas.openxmlformats.org/officeDocument/2006/relationships/notesMaster" Target="/ppt/notesMasters/notesMaster1.xml" Id="Ra3350f1650004ed0" /><Relationship Type="http://schemas.openxmlformats.org/officeDocument/2006/relationships/presProps" Target="/ppt/presProps.xml" Id="Raced6e856ab54137" /><Relationship Type="http://schemas.openxmlformats.org/officeDocument/2006/relationships/tableStyles" Target="/ppt/tableStyles.xml" Id="Rb38383f2a7c14f42" /><Relationship Type="http://schemas.openxmlformats.org/officeDocument/2006/relationships/slide" Target="/ppt/slides/slide1.xml" Id="R4ababe62f92e4c91" /><Relationship Type="http://schemas.openxmlformats.org/officeDocument/2006/relationships/slide" Target="/ppt/slides/slide2.xml" Id="Rca50d8dc36964eb3" /><Relationship Type="http://schemas.openxmlformats.org/officeDocument/2006/relationships/slide" Target="/ppt/slides/slide3.xml" Id="R9529bd5deb3e4dca" /><Relationship Type="http://schemas.openxmlformats.org/officeDocument/2006/relationships/slide" Target="/ppt/slides/slide4.xml" Id="Rc8365f3ea72444cd" /><Relationship Type="http://schemas.openxmlformats.org/officeDocument/2006/relationships/slide" Target="/ppt/slides/slide5.xml" Id="R70689559036f49d6" /><Relationship Type="http://schemas.openxmlformats.org/officeDocument/2006/relationships/slide" Target="/ppt/slides/slide6.xml" Id="Recc7c2506a5c414d" /><Relationship Type="http://schemas.openxmlformats.org/officeDocument/2006/relationships/slide" Target="/ppt/slides/slide7.xml" Id="R4d3b832a6ec64465" /><Relationship Type="http://schemas.openxmlformats.org/officeDocument/2006/relationships/slide" Target="/ppt/slides/slide8.xml" Id="R07a47966b79b4b4c" /><Relationship Type="http://schemas.openxmlformats.org/officeDocument/2006/relationships/slide" Target="/ppt/slides/slide9.xml" Id="R0a0022bffd7642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58d061bfb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c66d1d8b6459d" /><Relationship Type="http://schemas.openxmlformats.org/officeDocument/2006/relationships/notesMaster" Target="/ppt/notesMasters/notesMaster1.xml" Id="R9cdfee0b52ba40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9e1f656b54761" /><Relationship Type="http://schemas.openxmlformats.org/officeDocument/2006/relationships/notesMaster" Target="/ppt/notesMasters/notesMaster1.xml" Id="R74e046aacd7641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c5674669c4637" /><Relationship Type="http://schemas.openxmlformats.org/officeDocument/2006/relationships/notesMaster" Target="/ppt/notesMasters/notesMaster1.xml" Id="Rd7dd13cd6e0b48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aca981370406d" /><Relationship Type="http://schemas.openxmlformats.org/officeDocument/2006/relationships/notesMaster" Target="/ppt/notesMasters/notesMaster1.xml" Id="Ra69468c4c6da42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981fdaa5e14c9d" /><Relationship Type="http://schemas.openxmlformats.org/officeDocument/2006/relationships/notesMaster" Target="/ppt/notesMasters/notesMaster1.xml" Id="R09b73c199cb84c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33157980a24fb8" /><Relationship Type="http://schemas.openxmlformats.org/officeDocument/2006/relationships/notesMaster" Target="/ppt/notesMasters/notesMaster1.xml" Id="R198c56b48d3743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36eae37b94e89" /><Relationship Type="http://schemas.openxmlformats.org/officeDocument/2006/relationships/notesMaster" Target="/ppt/notesMasters/notesMaster1.xml" Id="R7a187056c90049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82c23a764e4dda" /><Relationship Type="http://schemas.openxmlformats.org/officeDocument/2006/relationships/notesMaster" Target="/ppt/notesMasters/notesMaster1.xml" Id="R851e6944653b4b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a92a7fb8d04da4" /><Relationship Type="http://schemas.openxmlformats.org/officeDocument/2006/relationships/notesMaster" Target="/ppt/notesMasters/notesMaster1.xml" Id="Rfa0a7be9ea5e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Открытие: семьи распределяют корзину между магазинами. Мы отдельно проверяем ценность общего результата и ценность его игрового отображения.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профиля: данные кейсодателя в файле «данные профиля клиентов_.md». Ограничение: определения сегмента и абсолютные размеры не раскрыты. Job-контекст косвенно поддержан вторичными исследованиями; прямого пользовательского интервью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РОМИР, март 2025, https://romir.ru/feed/roznitsa-trend-na-omnikanalnost ; RuStore, 5 702 отзыва за 06.09.2024–06.09.2026, research/RUSTORE_REVIEWS.md ; BE FIT RCT, 200 взрослых из 94 семей, https://pmc.ncbi.nlm.nih.gov/articles/PMC5710273/ ; Inner Dragon RCT, N=500, https://pmc.ncbi.nlm.nih.gov/articles/PMC11561441/ . Ограничение: RCT относятся к другим индустриям и не доказывают влияние ростомера на покупки X5.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Демонстрация: одна семья, один подходящий чек, обновление прогресса. Общий family_id и печать на кассе замоканы. RuStore показывает, что игровой слой нельзя ставить перед картой. Техническая ретроспектива подтверждает знакомый событийный контур чеков и отдельный прогресс достижений.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реализация: ai/personalizer.py, без внешнего API. 96,7% против 36,7% one-size-fits-all baseline получены на 30 синтетических профилях. AI в процессе ускорил исследование, синтез источников, документацию и реализацию PoC. Люди определили продуктовую ставку, границы доказательств и экономические допущения.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воспроизводимый прогон run_demo.py с seed=42. Показатель 43,5% «одна покупка до top-3» исключён из доказательств до исправления и повторной проверки формулы.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Участники: добровольно подтвердившие семейный контекст взрослые. Для C и D до рандомизации связываются минимум два аккаунта; единица назначения и анализа — семья. 28 дней до пилота для стратификации, 28 дней для оценки. Размер выборки рассчитывается после получения baseline, дисперсии и MDE. В B, C и D должны совпадать цель, награда, срок и коммуникационная частота.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Экспертная техническая ретроспектива описывает прошлый контур: чековые события, отдельный прогресс достижений, сегменты и постепенную раскатку. Источник не подтверждает текущую архитектуру X5 и бизнесовый эффект. Экономические сценарии +40 млн рублей оборота и +37,5 млн рублей восстановленной стоимости списаний остаются моделями порядка величин, а не прогнозом.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Финал: если работает только персональная цель, оставляем B. Если ценность создаёт общий результат, оставляем C. Ростомер масштабируем только когда D выигрывает у C и сохраняет положительную экономику. Журнал применения AI: AI_LOG.md.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899ed5f3b41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06151cec64b2e" /><Relationship Type="http://schemas.openxmlformats.org/officeDocument/2006/relationships/slideLayout" Target="/ppt/slideLayouts/slideLayout1.xml" Id="R0ba22e80ba1347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22e80ba1347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878236ae84113" /><Relationship Type="http://schemas.openxmlformats.org/officeDocument/2006/relationships/notesSlide" Target="/ppt/notesSlides/notesSlide1.xml" Id="R9553a0d84c9041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b8d4c0154c8a" /><Relationship Type="http://schemas.openxmlformats.org/officeDocument/2006/relationships/notesSlide" Target="/ppt/notesSlides/notesSlide2.xml" Id="R3fe1be1294b8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3729c7ed4ab2" /><Relationship Type="http://schemas.openxmlformats.org/officeDocument/2006/relationships/notesSlide" Target="/ppt/notesSlides/notesSlide3.xml" Id="R8c14fca8215240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0d4f7689e4a70" /><Relationship Type="http://schemas.openxmlformats.org/officeDocument/2006/relationships/image" Target="/ppt/media/image.png" Id="Rcc6bc5847b694aae" /><Relationship Type="http://schemas.openxmlformats.org/officeDocument/2006/relationships/notesSlide" Target="/ppt/notesSlides/notesSlide4.xml" Id="R9e73f912e84d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0ec2a8504080" /><Relationship Type="http://schemas.openxmlformats.org/officeDocument/2006/relationships/notesSlide" Target="/ppt/notesSlides/notesSlide5.xml" Id="Rd88eed631b09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ec3334327446a" /><Relationship Type="http://schemas.openxmlformats.org/officeDocument/2006/relationships/notesSlide" Target="/ppt/notesSlides/notesSlide6.xml" Id="Rc1181cfe49f1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eb8cf4a97449b" /><Relationship Type="http://schemas.openxmlformats.org/officeDocument/2006/relationships/notesSlide" Target="/ppt/notesSlides/notesSlide7.xml" Id="R85f08d58f29846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dffdae3f04ed4" /><Relationship Type="http://schemas.openxmlformats.org/officeDocument/2006/relationships/notesSlide" Target="/ppt/notesSlides/notesSlide8.xml" Id="Rab66c6093d914c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f62bd1b5542b7" /><Relationship Type="http://schemas.openxmlformats.org/officeDocument/2006/relationships/notesSlide" Target="/ppt/notesSlides/notesSlide9.xml" Id="R9df685b068f54f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738B9A1-A85F-4EBD-B212-F1B69BF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D6E785-5778-4389-A7C5-65422821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«Растём вместе»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EB40ECE-F98B-40B7-9E17-C3571C5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Семейный результат и ростомер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как две проверяемые гипотезы лояльности X5</a:t>
            </a:r>
          </a:p>
        </p:txBody>
      </p:sp>
      <p:sp>
        <p:nvSpPr>
          <p:cNvPr id="4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80F4EB4-0003-45E6-980F-0065163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Финальная версия, 06.09.2026</a:t>
            </a:r>
          </a:p>
        </p:txBody>
      </p:sp>
      <p:sp>
        <p:nvSpPr>
          <p:cNvPr id="5" name="cover-square">
            <a:extLst xmlns:a="http://schemas.openxmlformats.org/drawingml/2006/main">
              <a:ext uri="{FF2B5EF4-FFF2-40B4-BE49-F238E27FC236}">
                <a16:creationId xmlns:a16="http://schemas.microsoft.com/office/drawing/2014/main" id="{74134C4E-4C0C-4E83-B9A9-112C80B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525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x5">
            <a:extLst xmlns:a="http://schemas.openxmlformats.org/drawingml/2006/main">
              <a:ext uri="{FF2B5EF4-FFF2-40B4-BE49-F238E27FC236}">
                <a16:creationId xmlns:a16="http://schemas.microsoft.com/office/drawing/2014/main" id="{2C58D9D0-4D56-41C2-A1F8-42DE72A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573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X5</a:t>
            </a:r>
          </a:p>
        </p:txBody>
      </p:sp>
      <p:sp>
        <p:nvSpPr>
          <p:cNvPr id="7" name="logo-box-0">
            <a:extLst xmlns:a="http://schemas.openxmlformats.org/drawingml/2006/main">
              <a:ext uri="{FF2B5EF4-FFF2-40B4-BE49-F238E27FC236}">
                <a16:creationId xmlns:a16="http://schemas.microsoft.com/office/drawing/2014/main" id="{560DA443-71CC-47E9-8C66-F97FD5CA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o-ai-0">
            <a:extLst xmlns:a="http://schemas.openxmlformats.org/drawingml/2006/main">
              <a:ext uri="{FF2B5EF4-FFF2-40B4-BE49-F238E27FC236}">
                <a16:creationId xmlns:a16="http://schemas.microsoft.com/office/drawing/2014/main" id="{044B5A59-D317-46B9-BC5C-B0F3ACB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logo-text-0">
            <a:extLst xmlns:a="http://schemas.openxmlformats.org/drawingml/2006/main">
              <a:ext uri="{FF2B5EF4-FFF2-40B4-BE49-F238E27FC236}">
                <a16:creationId xmlns:a16="http://schemas.microsoft.com/office/drawing/2014/main" id="{62AB1AE9-63D5-4922-94B7-10452565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10" name="page-0">
            <a:extLst xmlns:a="http://schemas.openxmlformats.org/drawingml/2006/main">
              <a:ext uri="{FF2B5EF4-FFF2-40B4-BE49-F238E27FC236}">
                <a16:creationId xmlns:a16="http://schemas.microsoft.com/office/drawing/2014/main" id="{94B9FD08-352A-4A94-A752-7354318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663471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host-1">
            <a:extLst xmlns:a="http://schemas.openxmlformats.org/drawingml/2006/main">
              <a:ext uri="{FF2B5EF4-FFF2-40B4-BE49-F238E27FC236}">
                <a16:creationId xmlns:a16="http://schemas.microsoft.com/office/drawing/2014/main" id="{36934B3C-5822-4FEB-B284-E73B8E42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10C1A50E-8D03-4ABF-BE8C-A20B12FC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Профиль и покупочная работа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99B491F1-0507-4A1B-916B-23D5B08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Данные X5 отвечают, кого наблюдаем. Job-контекст показывает ситуацию выбора</a:t>
            </a:r>
          </a:p>
        </p:txBody>
      </p:sp>
      <p:sp>
        <p:nvSpPr>
          <p:cNvPr id="4" name="logo-box-1">
            <a:extLst xmlns:a="http://schemas.openxmlformats.org/drawingml/2006/main">
              <a:ext uri="{FF2B5EF4-FFF2-40B4-BE49-F238E27FC236}">
                <a16:creationId xmlns:a16="http://schemas.microsoft.com/office/drawing/2014/main" id="{9BF76656-1B5A-4071-9F0F-7E48C7C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1">
            <a:extLst xmlns:a="http://schemas.openxmlformats.org/drawingml/2006/main">
              <a:ext uri="{FF2B5EF4-FFF2-40B4-BE49-F238E27FC236}">
                <a16:creationId xmlns:a16="http://schemas.microsoft.com/office/drawing/2014/main" id="{E059A6C5-31A5-4A52-A779-18A24C62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1">
            <a:extLst xmlns:a="http://schemas.openxmlformats.org/drawingml/2006/main">
              <a:ext uri="{FF2B5EF4-FFF2-40B4-BE49-F238E27FC236}">
                <a16:creationId xmlns:a16="http://schemas.microsoft.com/office/drawing/2014/main" id="{B4C07627-329E-42BA-9366-9FC9D4D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DCFF3E72-39B7-42D4-BE35-BE145379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rofile-label">
            <a:extLst xmlns:a="http://schemas.openxmlformats.org/drawingml/2006/main">
              <a:ext uri="{FF2B5EF4-FFF2-40B4-BE49-F238E27FC236}">
                <a16:creationId xmlns:a16="http://schemas.microsoft.com/office/drawing/2014/main" id="{88EE5DF1-B26E-4638-9FEF-ECA529E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ПРОФИЛЬ X5</a:t>
            </a:r>
          </a:p>
        </p:txBody>
      </p:sp>
      <p:sp>
        <p:nvSpPr>
          <p:cNvPr id="9" name="profile-number">
            <a:extLst xmlns:a="http://schemas.openxmlformats.org/drawingml/2006/main">
              <a:ext uri="{FF2B5EF4-FFF2-40B4-BE49-F238E27FC236}">
                <a16:creationId xmlns:a16="http://schemas.microsoft.com/office/drawing/2014/main" id="{F19AC6EF-FAB8-441D-8B0E-F240764A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26–28%</a:t>
            </a:r>
          </a:p>
        </p:txBody>
      </p:sp>
      <p:sp>
        <p:nvSpPr>
          <p:cNvPr id="10" name="profile-copy">
            <a:extLst xmlns:a="http://schemas.openxmlformats.org/drawingml/2006/main">
              <a:ext uri="{FF2B5EF4-FFF2-40B4-BE49-F238E27FC236}">
                <a16:creationId xmlns:a16="http://schemas.microsoft.com/office/drawing/2014/main" id="{FC5F5789-8413-4857-8C3C-BBA0BAA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Взрослые с детьми до трёх лет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среди мобильной аудитории трёх сетей</a:t>
            </a:r>
          </a:p>
        </p:txBody>
      </p:sp>
      <p:sp>
        <p:nvSpPr>
          <p:cNvPr id="11" name="rule-488-182">
            <a:extLst xmlns:a="http://schemas.openxmlformats.org/drawingml/2006/main">
              <a:ext uri="{FF2B5EF4-FFF2-40B4-BE49-F238E27FC236}">
                <a16:creationId xmlns:a16="http://schemas.microsoft.com/office/drawing/2014/main" id="{B06A804E-CF41-44B0-AF57-E748EA1E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ob-label">
            <a:extLst xmlns:a="http://schemas.openxmlformats.org/drawingml/2006/main">
              <a:ext uri="{FF2B5EF4-FFF2-40B4-BE49-F238E27FC236}">
                <a16:creationId xmlns:a16="http://schemas.microsoft.com/office/drawing/2014/main" id="{7601EAB8-0091-4A17-ACA6-F803C22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JOB-КОНТЕКСТ</a:t>
            </a:r>
          </a:p>
        </p:txBody>
      </p:sp>
      <p:sp>
        <p:nvSpPr>
          <p:cNvPr id="13" name="job-head">
            <a:extLst xmlns:a="http://schemas.openxmlformats.org/drawingml/2006/main">
              <a:ext uri="{FF2B5EF4-FFF2-40B4-BE49-F238E27FC236}">
                <a16:creationId xmlns:a16="http://schemas.microsoft.com/office/drawing/2014/main" id="{DE2C3325-50C6-4890-891A-6A641F2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Плановое пополнение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семейной корзины</a:t>
            </a:r>
          </a:p>
        </p:txBody>
      </p:sp>
      <p:sp>
        <p:nvSpPr>
          <p:cNvPr id="14" name="ajtbd">
            <a:extLst xmlns:a="http://schemas.openxmlformats.org/drawingml/2006/main">
              <a:ext uri="{FF2B5EF4-FFF2-40B4-BE49-F238E27FC236}">
                <a16:creationId xmlns:a16="http://schemas.microsoft.com/office/drawing/2014/main" id="{82A6E997-1E9D-4C8A-B694-FF4B3AC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6600"/>
            <a:ext cx="590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Когда семье нужно пополнить привычную корзину, я хочу быстро выбрать, где купить нужное с понятной общей выгодой, чтобы удержать бюджет без долгого сравнения магазинов и покупки лишнего.</a:t>
            </a:r>
          </a:p>
        </p:txBody>
      </p:sp>
      <p:sp>
        <p:nvSpPr>
          <p:cNvPr id="15" name="job-outcome">
            <a:extLst xmlns:a="http://schemas.openxmlformats.org/drawingml/2006/main">
              <a:ext uri="{FF2B5EF4-FFF2-40B4-BE49-F238E27FC236}">
                <a16:creationId xmlns:a16="http://schemas.microsoft.com/office/drawing/2014/main" id="{71512BFF-7476-4326-B364-1812AB8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53000"/>
            <a:ext cx="590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ob-outcome-text">
            <a:extLst xmlns:a="http://schemas.openxmlformats.org/drawingml/2006/main">
              <a:ext uri="{FF2B5EF4-FFF2-40B4-BE49-F238E27FC236}">
                <a16:creationId xmlns:a16="http://schemas.microsoft.com/office/drawing/2014/main" id="{05DF9C2A-71CC-4D4A-8A57-2E7E958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95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Результат: нужное куплено, экономия проверяется по строкам чека</a:t>
            </a:r>
          </a:p>
        </p:txBody>
      </p:sp>
    </p:spTree>
    <p:extLst>
      <p:ext uri="{BB962C8B-B14F-4D97-AF65-F5344CB8AC3E}">
        <p14:creationId xmlns:p14="http://schemas.microsoft.com/office/powerpoint/2010/main" val="878892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host-2">
            <a:extLst xmlns:a="http://schemas.openxmlformats.org/drawingml/2006/main">
              <a:ext uri="{FF2B5EF4-FFF2-40B4-BE49-F238E27FC236}">
                <a16:creationId xmlns:a16="http://schemas.microsoft.com/office/drawing/2014/main" id="{B40E70DE-2308-4A40-81AA-9F0331C8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70D1F7E-E5F6-43EE-8393-AA058C0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известно и что проверяем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E4E4ED62-3B32-46B3-9534-939BB371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Факты рынка отделены от переносимых экспериментов и гипотез решения</a:t>
            </a:r>
          </a:p>
        </p:txBody>
      </p:sp>
      <p:sp>
        <p:nvSpPr>
          <p:cNvPr id="4" name="logo-box-2">
            <a:extLst xmlns:a="http://schemas.openxmlformats.org/drawingml/2006/main">
              <a:ext uri="{FF2B5EF4-FFF2-40B4-BE49-F238E27FC236}">
                <a16:creationId xmlns:a16="http://schemas.microsoft.com/office/drawing/2014/main" id="{68C931C6-0053-4D5F-B4B2-51D90F92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2">
            <a:extLst xmlns:a="http://schemas.openxmlformats.org/drawingml/2006/main">
              <a:ext uri="{FF2B5EF4-FFF2-40B4-BE49-F238E27FC236}">
                <a16:creationId xmlns:a16="http://schemas.microsoft.com/office/drawing/2014/main" id="{303EF312-69D1-4541-8090-1DCBEF9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2">
            <a:extLst xmlns:a="http://schemas.openxmlformats.org/drawingml/2006/main">
              <a:ext uri="{FF2B5EF4-FFF2-40B4-BE49-F238E27FC236}">
                <a16:creationId xmlns:a16="http://schemas.microsoft.com/office/drawing/2014/main" id="{B7BE7163-D6E0-497A-A487-8D2508A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FFF01D1A-40A1-40AE-8F58-62163BB1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ev1n">
            <a:extLst xmlns:a="http://schemas.openxmlformats.org/drawingml/2006/main">
              <a:ext uri="{FF2B5EF4-FFF2-40B4-BE49-F238E27FC236}">
                <a16:creationId xmlns:a16="http://schemas.microsoft.com/office/drawing/2014/main" id="{3FC6CE0E-93E2-46BD-BD09-3084690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ev1">
            <a:extLst xmlns:a="http://schemas.openxmlformats.org/drawingml/2006/main">
              <a:ext uri="{FF2B5EF4-FFF2-40B4-BE49-F238E27FC236}">
                <a16:creationId xmlns:a16="http://schemas.microsoft.com/office/drawing/2014/main" id="{139C4C8A-8EB5-42FE-A983-77443209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сетей в среднем в покупательском репертуаре</a:t>
            </a:r>
          </a:p>
        </p:txBody>
      </p:sp>
      <p:sp>
        <p:nvSpPr>
          <p:cNvPr id="10" name="ev1b">
            <a:extLst xmlns:a="http://schemas.openxmlformats.org/drawingml/2006/main">
              <a:ext uri="{FF2B5EF4-FFF2-40B4-BE49-F238E27FC236}">
                <a16:creationId xmlns:a16="http://schemas.microsoft.com/office/drawing/2014/main" id="{9D3F6C7C-1110-4F6E-BCD2-3C7D8FF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84,3% совмещают онлайн и офлайн</a:t>
            </a:r>
          </a:p>
        </p:txBody>
      </p:sp>
      <p:sp>
        <p:nvSpPr>
          <p:cNvPr id="11" name="rule-405-182">
            <a:extLst xmlns:a="http://schemas.openxmlformats.org/drawingml/2006/main">
              <a:ext uri="{FF2B5EF4-FFF2-40B4-BE49-F238E27FC236}">
                <a16:creationId xmlns:a16="http://schemas.microsoft.com/office/drawing/2014/main" id="{5D59EC79-BC2A-4675-83FB-C71AA6C4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335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2n">
            <a:extLst xmlns:a="http://schemas.openxmlformats.org/drawingml/2006/main">
              <a:ext uri="{FF2B5EF4-FFF2-40B4-BE49-F238E27FC236}">
                <a16:creationId xmlns:a16="http://schemas.microsoft.com/office/drawing/2014/main" id="{2175FBBD-09A3-43F3-87D4-3ACFDB0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0,53 / 0,32</a:t>
            </a:r>
          </a:p>
        </p:txBody>
      </p:sp>
      <p:sp>
        <p:nvSpPr>
          <p:cNvPr id="13" name="ev2">
            <a:extLst xmlns:a="http://schemas.openxmlformats.org/drawingml/2006/main">
              <a:ext uri="{FF2B5EF4-FFF2-40B4-BE49-F238E27FC236}">
                <a16:creationId xmlns:a16="http://schemas.microsoft.com/office/drawing/2014/main" id="{38154346-6838-4660-A148-18BFA99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доля дней выполнения цели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BE FIT, 200 взрослых</a:t>
            </a:r>
          </a:p>
        </p:txBody>
      </p:sp>
      <p:sp>
        <p:nvSpPr>
          <p:cNvPr id="14" name="ev2b">
            <a:extLst xmlns:a="http://schemas.openxmlformats.org/drawingml/2006/main">
              <a:ext uri="{FF2B5EF4-FFF2-40B4-BE49-F238E27FC236}">
                <a16:creationId xmlns:a16="http://schemas.microsoft.com/office/drawing/2014/main" id="{167DF52E-EDC9-4FCE-8C43-CF39D70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Inner Dragon, N=500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+20,2% дней использования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без эффекта на outcome</a:t>
            </a:r>
          </a:p>
        </p:txBody>
      </p:sp>
      <p:sp>
        <p:nvSpPr>
          <p:cNvPr id="15" name="rule-790-182">
            <a:extLst xmlns:a="http://schemas.openxmlformats.org/drawingml/2006/main">
              <a:ext uri="{FF2B5EF4-FFF2-40B4-BE49-F238E27FC236}">
                <a16:creationId xmlns:a16="http://schemas.microsoft.com/office/drawing/2014/main" id="{E7173685-B943-4ED5-BC41-DC5C8E8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3n">
            <a:extLst xmlns:a="http://schemas.openxmlformats.org/drawingml/2006/main">
              <a:ext uri="{FF2B5EF4-FFF2-40B4-BE49-F238E27FC236}">
                <a16:creationId xmlns:a16="http://schemas.microsoft.com/office/drawing/2014/main" id="{7B01756B-1FCD-4A66-8140-8697CDCD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 &gt; B?</a:t>
            </a:r>
          </a:p>
        </p:txBody>
      </p:sp>
      <p:sp>
        <p:nvSpPr>
          <p:cNvPr id="17" name="ev3">
            <a:extLst xmlns:a="http://schemas.openxmlformats.org/drawingml/2006/main">
              <a:ext uri="{FF2B5EF4-FFF2-40B4-BE49-F238E27FC236}">
                <a16:creationId xmlns:a16="http://schemas.microsoft.com/office/drawing/2014/main" id="{F45F88E1-690C-482A-916D-CED6F3F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ценность общего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результата семьи</a:t>
            </a:r>
          </a:p>
        </p:txBody>
      </p:sp>
      <p:sp>
        <p:nvSpPr>
          <p:cNvPr id="18" name="ev3bullets">
            <a:extLst xmlns:a="http://schemas.openxmlformats.org/drawingml/2006/main">
              <a:ext uri="{FF2B5EF4-FFF2-40B4-BE49-F238E27FC236}">
                <a16:creationId xmlns:a16="http://schemas.microsoft.com/office/drawing/2014/main" id="{4E9313E7-49E8-4E54-AE32-FDB51BB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D &gt; C? эффект ростомера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Прямого доказательства нет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Проверяем реальным пилотом</a:t>
            </a:r>
          </a:p>
        </p:txBody>
      </p:sp>
      <p:sp>
        <p:nvSpPr>
          <p:cNvPr id="19" name="evidence-conclusion">
            <a:extLst xmlns:a="http://schemas.openxmlformats.org/drawingml/2006/main">
              <a:ext uri="{FF2B5EF4-FFF2-40B4-BE49-F238E27FC236}">
                <a16:creationId xmlns:a16="http://schemas.microsoft.com/office/drawing/2014/main" id="{A14D3434-31AB-4D0C-A5E3-0640C23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conclusion-text">
            <a:extLst xmlns:a="http://schemas.openxmlformats.org/drawingml/2006/main">
              <a:ext uri="{FF2B5EF4-FFF2-40B4-BE49-F238E27FC236}">
                <a16:creationId xmlns:a16="http://schemas.microsoft.com/office/drawing/2014/main" id="{83E591C6-914B-4855-B5BA-AB50533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RuStore: карта первой, экономия по чеку. Счётчики ресерча не переаудированы</a:t>
            </a:r>
          </a:p>
        </p:txBody>
      </p:sp>
      <p:sp>
        <p:nvSpPr>
          <p:cNvPr id="22" name="evidence-market-label">
            <a:extLst xmlns:a="http://schemas.openxmlformats.org/drawingml/2006/main">
              <a:ext uri="{FF2B5EF4-FFF2-40B4-BE49-F238E27FC236}">
                <a16:creationId xmlns:a16="http://schemas.microsoft.com/office/drawing/2014/main" id="{A8530294-7C1D-4957-8C8F-DD7D2C2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РОССИЙСКИЙ РЫНОК</a:t>
            </a:r>
          </a:p>
        </p:txBody>
      </p:sp>
      <p:sp>
        <p:nvSpPr>
          <p:cNvPr id="23" name="evidence-transfer-label">
            <a:extLst xmlns:a="http://schemas.openxmlformats.org/drawingml/2006/main">
              <a:ext uri="{FF2B5EF4-FFF2-40B4-BE49-F238E27FC236}">
                <a16:creationId xmlns:a16="http://schemas.microsoft.com/office/drawing/2014/main" id="{922791E9-87C3-4092-9572-5B49E2C5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4B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B18"/>
                </a:solidFill>
                <a:latin typeface="Arial"/>
                <a:ea typeface="Arial"/>
                <a:cs typeface="Arial"/>
              </a:rPr>
              <a:t>ПЕРЕНОСИМЫЕ RCT</a:t>
            </a:r>
          </a:p>
        </p:txBody>
      </p:sp>
      <p:sp>
        <p:nvSpPr>
          <p:cNvPr id="24" name="evidence-hypothesis-label">
            <a:extLst xmlns:a="http://schemas.openxmlformats.org/drawingml/2006/main">
              <a:ext uri="{FF2B5EF4-FFF2-40B4-BE49-F238E27FC236}">
                <a16:creationId xmlns:a16="http://schemas.microsoft.com/office/drawing/2014/main" id="{54F21A46-ABB7-4E90-BB8B-219E81B8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85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НЕПРОВЕРЕННЫЕ ГИПОТЕЗЫ</a:t>
            </a:r>
          </a:p>
        </p:txBody>
      </p:sp>
    </p:spTree>
    <p:extLst>
      <p:ext uri="{BB962C8B-B14F-4D97-AF65-F5344CB8AC3E}">
        <p14:creationId xmlns:p14="http://schemas.microsoft.com/office/powerpoint/2010/main" val="923894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host-3">
            <a:extLst xmlns:a="http://schemas.openxmlformats.org/drawingml/2006/main">
              <a:ext uri="{FF2B5EF4-FFF2-40B4-BE49-F238E27FC236}">
                <a16:creationId xmlns:a16="http://schemas.microsoft.com/office/drawing/2014/main" id="{FA8C8ED7-9E5E-4375-9882-14CCBE4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77D7212-AE2A-4846-B831-19B3B84D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Один чек в центре продукта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576480A-8E2F-45D3-A899-D0602B1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Прогресс следует за покупкой и не мешает сценарию на кассе</a:t>
            </a:r>
          </a:p>
        </p:txBody>
      </p:sp>
      <p:sp>
        <p:nvSpPr>
          <p:cNvPr id="4" name="logo-box-3">
            <a:extLst xmlns:a="http://schemas.openxmlformats.org/drawingml/2006/main">
              <a:ext uri="{FF2B5EF4-FFF2-40B4-BE49-F238E27FC236}">
                <a16:creationId xmlns:a16="http://schemas.microsoft.com/office/drawing/2014/main" id="{FDAADEBF-221C-437B-9032-73856EBD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3">
            <a:extLst xmlns:a="http://schemas.openxmlformats.org/drawingml/2006/main">
              <a:ext uri="{FF2B5EF4-FFF2-40B4-BE49-F238E27FC236}">
                <a16:creationId xmlns:a16="http://schemas.microsoft.com/office/drawing/2014/main" id="{51D277F1-7E94-4671-8B10-1E8D166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3">
            <a:extLst xmlns:a="http://schemas.openxmlformats.org/drawingml/2006/main">
              <a:ext uri="{FF2B5EF4-FFF2-40B4-BE49-F238E27FC236}">
                <a16:creationId xmlns:a16="http://schemas.microsoft.com/office/drawing/2014/main" id="{82A6E883-162A-4513-A6AC-712BA11D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5F088227-3F4A-486A-A077-D4DE5CAF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bc5847b694aae"/>
          <a:stretch xmlns:a="http://schemas.openxmlformats.org/drawingml/2006/main"/>
        </p:blipFill>
        <p:spPr>
          <a:xfrm xmlns:a="http://schemas.openxmlformats.org/drawingml/2006/main">
            <a:off x="8079241" y="1619250"/>
            <a:ext cx="2510518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loop-n-01">
            <a:extLst xmlns:a="http://schemas.openxmlformats.org/drawingml/2006/main">
              <a:ext uri="{FF2B5EF4-FFF2-40B4-BE49-F238E27FC236}">
                <a16:creationId xmlns:a16="http://schemas.microsoft.com/office/drawing/2014/main" id="{6149E821-EA4C-4416-8576-5093F049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oop-h-01">
            <a:extLst xmlns:a="http://schemas.openxmlformats.org/drawingml/2006/main">
              <a:ext uri="{FF2B5EF4-FFF2-40B4-BE49-F238E27FC236}">
                <a16:creationId xmlns:a16="http://schemas.microsoft.com/office/drawing/2014/main" id="{133ADF5F-1F54-4FAF-941C-370C414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Персональная цель</a:t>
            </a:r>
          </a:p>
        </p:txBody>
      </p:sp>
      <p:sp>
        <p:nvSpPr>
          <p:cNvPr id="11" name="loop-c-01">
            <a:extLst xmlns:a="http://schemas.openxmlformats.org/drawingml/2006/main">
              <a:ext uri="{FF2B5EF4-FFF2-40B4-BE49-F238E27FC236}">
                <a16:creationId xmlns:a16="http://schemas.microsoft.com/office/drawing/2014/main" id="{490CDB48-47BA-4D76-A778-E3E9228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Привычные товары и понятная экономия</a:t>
            </a:r>
          </a:p>
        </p:txBody>
      </p:sp>
      <p:sp>
        <p:nvSpPr>
          <p:cNvPr id="12" name="rule-88-236">
            <a:extLst xmlns:a="http://schemas.openxmlformats.org/drawingml/2006/main">
              <a:ext uri="{FF2B5EF4-FFF2-40B4-BE49-F238E27FC236}">
                <a16:creationId xmlns:a16="http://schemas.microsoft.com/office/drawing/2014/main" id="{1225CB1C-1332-416C-BEBA-7E1A9037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n-02">
            <a:extLst xmlns:a="http://schemas.openxmlformats.org/drawingml/2006/main">
              <a:ext uri="{FF2B5EF4-FFF2-40B4-BE49-F238E27FC236}">
                <a16:creationId xmlns:a16="http://schemas.microsoft.com/office/drawing/2014/main" id="{A0505C5E-EA11-4F2D-9A34-3883FD3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oop-h-02">
            <a:extLst xmlns:a="http://schemas.openxmlformats.org/drawingml/2006/main">
              <a:ext uri="{FF2B5EF4-FFF2-40B4-BE49-F238E27FC236}">
                <a16:creationId xmlns:a16="http://schemas.microsoft.com/office/drawing/2014/main" id="{4C0A3715-495C-486E-B68C-4F00110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Подходящий чек</a:t>
            </a:r>
          </a:p>
        </p:txBody>
      </p:sp>
      <p:sp>
        <p:nvSpPr>
          <p:cNvPr id="15" name="loop-c-02">
            <a:extLst xmlns:a="http://schemas.openxmlformats.org/drawingml/2006/main">
              <a:ext uri="{FF2B5EF4-FFF2-40B4-BE49-F238E27FC236}">
                <a16:creationId xmlns:a16="http://schemas.microsoft.com/office/drawing/2014/main" id="{88EF8721-BF42-4265-887F-30FBF8A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Покупка подтверждает действие</a:t>
            </a:r>
          </a:p>
        </p:txBody>
      </p:sp>
      <p:sp>
        <p:nvSpPr>
          <p:cNvPr id="16" name="rule-88-336">
            <a:extLst xmlns:a="http://schemas.openxmlformats.org/drawingml/2006/main">
              <a:ext uri="{FF2B5EF4-FFF2-40B4-BE49-F238E27FC236}">
                <a16:creationId xmlns:a16="http://schemas.microsoft.com/office/drawing/2014/main" id="{779D664A-EC42-4AE9-860E-4E3ADF3A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n-03">
            <a:extLst xmlns:a="http://schemas.openxmlformats.org/drawingml/2006/main">
              <a:ext uri="{FF2B5EF4-FFF2-40B4-BE49-F238E27FC236}">
                <a16:creationId xmlns:a16="http://schemas.microsoft.com/office/drawing/2014/main" id="{94DC551C-467E-4A9E-85AF-B6F8C29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oop-h-03">
            <a:extLst xmlns:a="http://schemas.openxmlformats.org/drawingml/2006/main">
              <a:ext uri="{FF2B5EF4-FFF2-40B4-BE49-F238E27FC236}">
                <a16:creationId xmlns:a16="http://schemas.microsoft.com/office/drawing/2014/main" id="{15EC6A7A-3424-4166-BAA7-C54CB65B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Общий результат</a:t>
            </a:r>
          </a:p>
        </p:txBody>
      </p:sp>
      <p:sp>
        <p:nvSpPr>
          <p:cNvPr id="19" name="loop-c-03">
            <a:extLst xmlns:a="http://schemas.openxmlformats.org/drawingml/2006/main">
              <a:ext uri="{FF2B5EF4-FFF2-40B4-BE49-F238E27FC236}">
                <a16:creationId xmlns:a16="http://schemas.microsoft.com/office/drawing/2014/main" id="{3F53937F-AD36-4CB9-A838-24BF87C2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Чеки связанных взрослых складываются</a:t>
            </a:r>
          </a:p>
        </p:txBody>
      </p:sp>
      <p:sp>
        <p:nvSpPr>
          <p:cNvPr id="20" name="rule-88-436">
            <a:extLst xmlns:a="http://schemas.openxmlformats.org/drawingml/2006/main">
              <a:ext uri="{FF2B5EF4-FFF2-40B4-BE49-F238E27FC236}">
                <a16:creationId xmlns:a16="http://schemas.microsoft.com/office/drawing/2014/main" id="{2296FA09-AE05-44EB-97CB-09C4178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op-n-04">
            <a:extLst xmlns:a="http://schemas.openxmlformats.org/drawingml/2006/main">
              <a:ext uri="{FF2B5EF4-FFF2-40B4-BE49-F238E27FC236}">
                <a16:creationId xmlns:a16="http://schemas.microsoft.com/office/drawing/2014/main" id="{A263CD44-0186-4992-A7B9-AD7F9FD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loop-h-04">
            <a:extLst xmlns:a="http://schemas.openxmlformats.org/drawingml/2006/main">
              <a:ext uri="{FF2B5EF4-FFF2-40B4-BE49-F238E27FC236}">
                <a16:creationId xmlns:a16="http://schemas.microsoft.com/office/drawing/2014/main" id="{7F7D2B6E-48D9-44B8-A8BA-F151D9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Ростомер</a:t>
            </a:r>
          </a:p>
        </p:txBody>
      </p:sp>
      <p:sp>
        <p:nvSpPr>
          <p:cNvPr id="23" name="loop-c-04">
            <a:extLst xmlns:a="http://schemas.openxmlformats.org/drawingml/2006/main">
              <a:ext uri="{FF2B5EF4-FFF2-40B4-BE49-F238E27FC236}">
                <a16:creationId xmlns:a16="http://schemas.microsoft.com/office/drawing/2014/main" id="{547B65C8-CAFF-4A36-98AA-00616AE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Тот же результат получает игровой образ</a:t>
            </a:r>
          </a:p>
        </p:txBody>
      </p:sp>
      <p:sp>
        <p:nvSpPr>
          <p:cNvPr id="24" name="mock-note">
            <a:extLst xmlns:a="http://schemas.openxmlformats.org/drawingml/2006/main">
              <a:ext uri="{FF2B5EF4-FFF2-40B4-BE49-F238E27FC236}">
                <a16:creationId xmlns:a16="http://schemas.microsoft.com/office/drawing/2014/main" id="{E7C85CFF-3545-4986-B170-FEEF3102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28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ock-note-text">
            <a:extLst xmlns:a="http://schemas.openxmlformats.org/drawingml/2006/main">
              <a:ext uri="{FF2B5EF4-FFF2-40B4-BE49-F238E27FC236}">
                <a16:creationId xmlns:a16="http://schemas.microsoft.com/office/drawing/2014/main" id="{13860E9E-E6D2-4B52-9413-9A3B0D29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Чеки работают. Связка и печать замоканы</a:t>
            </a:r>
          </a:p>
        </p:txBody>
      </p:sp>
    </p:spTree>
    <p:extLst>
      <p:ext uri="{BB962C8B-B14F-4D97-AF65-F5344CB8AC3E}">
        <p14:creationId xmlns:p14="http://schemas.microsoft.com/office/powerpoint/2010/main" val="1071641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host-4">
            <a:extLst xmlns:a="http://schemas.openxmlformats.org/drawingml/2006/main">
              <a:ext uri="{FF2B5EF4-FFF2-40B4-BE49-F238E27FC236}">
                <a16:creationId xmlns:a16="http://schemas.microsoft.com/office/drawing/2014/main" id="{1FD5307D-F1B0-4834-83A2-F33F697C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E7823D4-D872-45E2-AE69-28E4F6CF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Персонализатор выбирает, правила считают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01DCD253-2D9C-45E2-B4A9-5443BA6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Рабочий локальный стенд без LLM API и реальных начислений X5</a:t>
            </a:r>
          </a:p>
        </p:txBody>
      </p:sp>
      <p:sp>
        <p:nvSpPr>
          <p:cNvPr id="4" name="logo-box-4">
            <a:extLst xmlns:a="http://schemas.openxmlformats.org/drawingml/2006/main">
              <a:ext uri="{FF2B5EF4-FFF2-40B4-BE49-F238E27FC236}">
                <a16:creationId xmlns:a16="http://schemas.microsoft.com/office/drawing/2014/main" id="{CF6796A0-BD7C-4803-9AA6-709A0CF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4">
            <a:extLst xmlns:a="http://schemas.openxmlformats.org/drawingml/2006/main">
              <a:ext uri="{FF2B5EF4-FFF2-40B4-BE49-F238E27FC236}">
                <a16:creationId xmlns:a16="http://schemas.microsoft.com/office/drawing/2014/main" id="{129ECB89-7582-4B35-92D6-FB38E26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4">
            <a:extLst xmlns:a="http://schemas.openxmlformats.org/drawingml/2006/main">
              <a:ext uri="{FF2B5EF4-FFF2-40B4-BE49-F238E27FC236}">
                <a16:creationId xmlns:a16="http://schemas.microsoft.com/office/drawing/2014/main" id="{0C822A63-2A18-4295-B760-C3F3D15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FD049A62-D519-451A-AFC0-5C8D894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ai-label-0">
            <a:extLst xmlns:a="http://schemas.openxmlformats.org/drawingml/2006/main">
              <a:ext uri="{FF2B5EF4-FFF2-40B4-BE49-F238E27FC236}">
                <a16:creationId xmlns:a16="http://schemas.microsoft.com/office/drawing/2014/main" id="{CA9DDF20-44DA-4BDC-B3BD-A45A592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СЕЙЧАС В КОДЕ</a:t>
            </a:r>
          </a:p>
        </p:txBody>
      </p:sp>
      <p:sp>
        <p:nvSpPr>
          <p:cNvPr id="9" name="ai-head-0">
            <a:extLst xmlns:a="http://schemas.openxmlformats.org/drawingml/2006/main">
              <a:ext uri="{FF2B5EF4-FFF2-40B4-BE49-F238E27FC236}">
                <a16:creationId xmlns:a16="http://schemas.microsoft.com/office/drawing/2014/main" id="{551EB0D8-FEC1-49C9-A3CA-FBFB398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Недельная политика</a:t>
            </a:r>
          </a:p>
        </p:txBody>
      </p:sp>
      <p:sp>
        <p:nvSpPr>
          <p:cNvPr id="10" name="rule-70-326">
            <a:extLst xmlns:a="http://schemas.openxmlformats.org/drawingml/2006/main">
              <a:ext uri="{FF2B5EF4-FFF2-40B4-BE49-F238E27FC236}">
                <a16:creationId xmlns:a16="http://schemas.microsoft.com/office/drawing/2014/main" id="{34C91AD6-9823-44BC-8310-6819ED37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bullets-0">
            <a:extLst xmlns:a="http://schemas.openxmlformats.org/drawingml/2006/main">
              <a:ext uri="{FF2B5EF4-FFF2-40B4-BE49-F238E27FC236}">
                <a16:creationId xmlns:a16="http://schemas.microsoft.com/office/drawing/2014/main" id="{43D4829A-96E7-4DB1-8FA6-D530782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использует 8 недель истории до назначения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выбирает категории и достижимый порог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объясняет цель; есть fallback и отказ</a:t>
            </a:r>
          </a:p>
        </p:txBody>
      </p:sp>
      <p:sp>
        <p:nvSpPr>
          <p:cNvPr id="12" name="ai-label-1">
            <a:extLst xmlns:a="http://schemas.openxmlformats.org/drawingml/2006/main">
              <a:ext uri="{FF2B5EF4-FFF2-40B4-BE49-F238E27FC236}">
                <a16:creationId xmlns:a16="http://schemas.microsoft.com/office/drawing/2014/main" id="{E3F93D9E-CC45-4CFE-99D3-DBD73B3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ВОЗМОЖНЫЙ LLM-СЛОЙ</a:t>
            </a:r>
          </a:p>
        </p:txBody>
      </p:sp>
      <p:sp>
        <p:nvSpPr>
          <p:cNvPr id="13" name="ai-head-1">
            <a:extLst xmlns:a="http://schemas.openxmlformats.org/drawingml/2006/main">
              <a:ext uri="{FF2B5EF4-FFF2-40B4-BE49-F238E27FC236}">
                <a16:creationId xmlns:a16="http://schemas.microsoft.com/office/drawing/2014/main" id="{845284DD-BCAB-4BEB-859C-66263BA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Текст и объяснение</a:t>
            </a:r>
          </a:p>
        </p:txBody>
      </p:sp>
      <p:sp>
        <p:nvSpPr>
          <p:cNvPr id="14" name="rule-438-326">
            <a:extLst xmlns:a="http://schemas.openxmlformats.org/drawingml/2006/main">
              <a:ext uri="{FF2B5EF4-FFF2-40B4-BE49-F238E27FC236}">
                <a16:creationId xmlns:a16="http://schemas.microsoft.com/office/drawing/2014/main" id="{45370F18-761A-4891-8AB5-04CDDEE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i-bullets-1">
            <a:extLst xmlns:a="http://schemas.openxmlformats.org/drawingml/2006/main">
              <a:ext uri="{FF2B5EF4-FFF2-40B4-BE49-F238E27FC236}">
                <a16:creationId xmlns:a16="http://schemas.microsoft.com/office/drawing/2014/main" id="{4CB6A709-A031-46C1-8BDD-C27C35B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5280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переформулирует текст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объясняет выбор человеку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сравнивается с baseline</a:t>
            </a:r>
          </a:p>
        </p:txBody>
      </p:sp>
      <p:sp>
        <p:nvSpPr>
          <p:cNvPr id="16" name="ai-label-2">
            <a:extLst xmlns:a="http://schemas.openxmlformats.org/drawingml/2006/main">
              <a:ext uri="{FF2B5EF4-FFF2-40B4-BE49-F238E27FC236}">
                <a16:creationId xmlns:a16="http://schemas.microsoft.com/office/drawing/2014/main" id="{C25D32ED-4557-4E99-9359-A18C145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9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ДЕТЕРМИНИРОВАННЫЕ ПРАВИЛА</a:t>
            </a:r>
          </a:p>
        </p:txBody>
      </p:sp>
      <p:sp>
        <p:nvSpPr>
          <p:cNvPr id="17" name="ai-head-2">
            <a:extLst xmlns:a="http://schemas.openxmlformats.org/drawingml/2006/main">
              <a:ext uri="{FF2B5EF4-FFF2-40B4-BE49-F238E27FC236}">
                <a16:creationId xmlns:a16="http://schemas.microsoft.com/office/drawing/2014/main" id="{BE16BD32-9B40-4A7D-9A41-64969FC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Деньги и безопасность</a:t>
            </a:r>
          </a:p>
        </p:txBody>
      </p:sp>
      <p:sp>
        <p:nvSpPr>
          <p:cNvPr id="18" name="rule-806-326">
            <a:extLst xmlns:a="http://schemas.openxmlformats.org/drawingml/2006/main">
              <a:ext uri="{FF2B5EF4-FFF2-40B4-BE49-F238E27FC236}">
                <a16:creationId xmlns:a16="http://schemas.microsoft.com/office/drawing/2014/main" id="{A4A6DEFC-B0D9-43AF-9C8B-1ECA042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i-bullets-2">
            <a:extLst xmlns:a="http://schemas.openxmlformats.org/drawingml/2006/main">
              <a:ext uri="{FF2B5EF4-FFF2-40B4-BE49-F238E27FC236}">
                <a16:creationId xmlns:a16="http://schemas.microsoft.com/office/drawing/2014/main" id="{D65A5C9C-589C-4E6E-9380-139E811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считает экономию и прогресс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проверяет исключения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обрабатывает дубли, возвраты и лимиты</a:t>
            </a:r>
          </a:p>
        </p:txBody>
      </p:sp>
      <p:sp>
        <p:nvSpPr>
          <p:cNvPr id="20" name="ai-truth">
            <a:extLst xmlns:a="http://schemas.openxmlformats.org/drawingml/2006/main">
              <a:ext uri="{FF2B5EF4-FFF2-40B4-BE49-F238E27FC236}">
                <a16:creationId xmlns:a16="http://schemas.microsoft.com/office/drawing/2014/main" id="{AD6C1E73-A223-47F2-9FFD-8AF6536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i-truth-text">
            <a:extLst xmlns:a="http://schemas.openxmlformats.org/drawingml/2006/main">
              <a:ext uri="{FF2B5EF4-FFF2-40B4-BE49-F238E27FC236}">
                <a16:creationId xmlns:a16="http://schemas.microsoft.com/office/drawing/2014/main" id="{FA0E7B44-69BD-49DF-9304-E4FE84A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Цель проверяется по чеку. Нет обученной нейросети; человеческая полезность ещё не измерена</a:t>
            </a:r>
          </a:p>
        </p:txBody>
      </p:sp>
    </p:spTree>
    <p:extLst>
      <p:ext uri="{BB962C8B-B14F-4D97-AF65-F5344CB8AC3E}">
        <p14:creationId xmlns:p14="http://schemas.microsoft.com/office/powerpoint/2010/main" val="1415562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host-5">
            <a:extLst xmlns:a="http://schemas.openxmlformats.org/drawingml/2006/main">
              <a:ext uri="{FF2B5EF4-FFF2-40B4-BE49-F238E27FC236}">
                <a16:creationId xmlns:a16="http://schemas.microsoft.com/office/drawing/2014/main" id="{D2855689-AEBE-4D96-9890-18494C1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501F905-64BA-4E4C-BE18-655B811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проверяет рабочая версия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367E0432-87E3-475C-8AF4-3BC380D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Временной replay на синтетике; это не измерение изменения поведения</a:t>
            </a:r>
          </a:p>
        </p:txBody>
      </p:sp>
      <p:sp>
        <p:nvSpPr>
          <p:cNvPr id="4" name="logo-box-5">
            <a:extLst xmlns:a="http://schemas.openxmlformats.org/drawingml/2006/main">
              <a:ext uri="{FF2B5EF4-FFF2-40B4-BE49-F238E27FC236}">
                <a16:creationId xmlns:a16="http://schemas.microsoft.com/office/drawing/2014/main" id="{72ED23EB-2FAA-4D3E-8B3B-AA02127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5">
            <a:extLst xmlns:a="http://schemas.openxmlformats.org/drawingml/2006/main">
              <a:ext uri="{FF2B5EF4-FFF2-40B4-BE49-F238E27FC236}">
                <a16:creationId xmlns:a16="http://schemas.microsoft.com/office/drawing/2014/main" id="{928EE6F6-4670-4864-95C2-4900F42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5">
            <a:extLst xmlns:a="http://schemas.openxmlformats.org/drawingml/2006/main">
              <a:ext uri="{FF2B5EF4-FFF2-40B4-BE49-F238E27FC236}">
                <a16:creationId xmlns:a16="http://schemas.microsoft.com/office/drawing/2014/main" id="{7F14EDC8-6C51-4357-B84F-5DE08BA5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34EE4F9F-7B37-45B9-A3FF-F04AF867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metric-n-0">
            <a:extLst xmlns:a="http://schemas.openxmlformats.org/drawingml/2006/main">
              <a:ext uri="{FF2B5EF4-FFF2-40B4-BE49-F238E27FC236}">
                <a16:creationId xmlns:a16="http://schemas.microsoft.com/office/drawing/2014/main" id="{4C47629D-A9F2-4257-85A9-4395A2D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510</a:t>
            </a:r>
          </a:p>
        </p:txBody>
      </p:sp>
      <p:sp>
        <p:nvSpPr>
          <p:cNvPr id="9" name="metric-c-0">
            <a:extLst xmlns:a="http://schemas.openxmlformats.org/drawingml/2006/main">
              <a:ext uri="{FF2B5EF4-FFF2-40B4-BE49-F238E27FC236}">
                <a16:creationId xmlns:a16="http://schemas.microsoft.com/office/drawing/2014/main" id="{91AEA8F2-1749-498E-A805-BDD4727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целевых семей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из 2 000 синтетических профилей</a:t>
            </a:r>
          </a:p>
        </p:txBody>
      </p:sp>
      <p:sp>
        <p:nvSpPr>
          <p:cNvPr id="10" name="rule-395-178">
            <a:extLst xmlns:a="http://schemas.openxmlformats.org/drawingml/2006/main">
              <a:ext uri="{FF2B5EF4-FFF2-40B4-BE49-F238E27FC236}">
                <a16:creationId xmlns:a16="http://schemas.microsoft.com/office/drawing/2014/main" id="{E95005CE-D2C3-4633-8DBF-04904D5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954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n-1">
            <a:extLst xmlns:a="http://schemas.openxmlformats.org/drawingml/2006/main">
              <a:ext uri="{FF2B5EF4-FFF2-40B4-BE49-F238E27FC236}">
                <a16:creationId xmlns:a16="http://schemas.microsoft.com/office/drawing/2014/main" id="{CD40BA73-BD13-4E4F-AF38-75B184F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2 040</a:t>
            </a:r>
          </a:p>
        </p:txBody>
      </p:sp>
      <p:sp>
        <p:nvSpPr>
          <p:cNvPr id="12" name="metric-c-1">
            <a:extLst xmlns:a="http://schemas.openxmlformats.org/drawingml/2006/main">
              <a:ext uri="{FF2B5EF4-FFF2-40B4-BE49-F238E27FC236}">
                <a16:creationId xmlns:a16="http://schemas.microsoft.com/office/drawing/2014/main" id="{8DBCCD6E-FECB-431D-ACEF-A0DCED9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эпизодов временного replay</a:t>
            </a:r>
          </a:p>
        </p:txBody>
      </p:sp>
      <p:sp>
        <p:nvSpPr>
          <p:cNvPr id="13" name="rule-773-178">
            <a:extLst xmlns:a="http://schemas.openxmlformats.org/drawingml/2006/main">
              <a:ext uri="{FF2B5EF4-FFF2-40B4-BE49-F238E27FC236}">
                <a16:creationId xmlns:a16="http://schemas.microsoft.com/office/drawing/2014/main" id="{B33A2A1F-18C8-4937-AAF8-A11543F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954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n-2">
            <a:extLst xmlns:a="http://schemas.openxmlformats.org/drawingml/2006/main">
              <a:ext uri="{FF2B5EF4-FFF2-40B4-BE49-F238E27FC236}">
                <a16:creationId xmlns:a16="http://schemas.microsoft.com/office/drawing/2014/main" id="{0DBFE93C-7830-4B4E-BCDB-118018A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695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25 тестов</a:t>
            </a:r>
          </a:p>
        </p:txBody>
      </p:sp>
      <p:sp>
        <p:nvSpPr>
          <p:cNvPr id="15" name="metric-c-2">
            <a:extLst xmlns:a="http://schemas.openxmlformats.org/drawingml/2006/main">
              <a:ext uri="{FF2B5EF4-FFF2-40B4-BE49-F238E27FC236}">
                <a16:creationId xmlns:a16="http://schemas.microsoft.com/office/drawing/2014/main" id="{30E4B86D-3EB7-48C5-9CEA-DE022DC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38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API, дубли, возвраты, лимиты</a:t>
            </a:r>
          </a:p>
        </p:txBody>
      </p:sp>
      <p:sp>
        <p:nvSpPr>
          <p:cNvPr id="16" name="rule-65-330">
            <a:extLst xmlns:a="http://schemas.openxmlformats.org/drawingml/2006/main">
              <a:ext uri="{FF2B5EF4-FFF2-40B4-BE49-F238E27FC236}">
                <a16:creationId xmlns:a16="http://schemas.microsoft.com/office/drawing/2014/main" id="{93DB1A63-FB6F-4255-B69B-98353F9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-main">
            <a:extLst xmlns:a="http://schemas.openxmlformats.org/drawingml/2006/main">
              <a:ext uri="{FF2B5EF4-FFF2-40B4-BE49-F238E27FC236}">
                <a16:creationId xmlns:a16="http://schemas.microsoft.com/office/drawing/2014/main" id="{2A22FBFE-A7CC-44E8-BCF4-29555BE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64,6%</a:t>
            </a:r>
          </a:p>
        </p:txBody>
      </p:sp>
      <p:sp>
        <p:nvSpPr>
          <p:cNvPr id="18" name="eval-caption">
            <a:extLst xmlns:a="http://schemas.openxmlformats.org/drawingml/2006/main">
              <a:ext uri="{FF2B5EF4-FFF2-40B4-BE49-F238E27FC236}">
                <a16:creationId xmlns:a16="http://schemas.microsoft.com/office/drawing/2014/main" id="{15801F57-48ED-46F0-8268-61E617E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против 33,7% static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выполнено на следующих чеках</a:t>
            </a:r>
          </a:p>
        </p:txBody>
      </p:sp>
      <p:sp>
        <p:nvSpPr>
          <p:cNvPr id="19" name="constraint-main">
            <a:extLst xmlns:a="http://schemas.openxmlformats.org/drawingml/2006/main">
              <a:ext uri="{FF2B5EF4-FFF2-40B4-BE49-F238E27FC236}">
                <a16:creationId xmlns:a16="http://schemas.microsoft.com/office/drawing/2014/main" id="{048D2622-BC32-4207-B5E3-147507A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0" name="constraint-caption">
            <a:extLst xmlns:a="http://schemas.openxmlformats.org/drawingml/2006/main">
              <a:ext uri="{FF2B5EF4-FFF2-40B4-BE49-F238E27FC236}">
                <a16:creationId xmlns:a16="http://schemas.microsoft.com/office/drawing/2014/main" id="{BF890620-F15E-4C23-9B2E-73B57F7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проверки безопасности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 2 040 временных эпизодах</a:t>
            </a:r>
          </a:p>
        </p:txBody>
      </p:sp>
      <p:sp>
        <p:nvSpPr>
          <p:cNvPr id="21" name="poc-proof">
            <a:extLst xmlns:a="http://schemas.openxmlformats.org/drawingml/2006/main">
              <a:ext uri="{FF2B5EF4-FFF2-40B4-BE49-F238E27FC236}">
                <a16:creationId xmlns:a16="http://schemas.microsoft.com/office/drawing/2014/main" id="{C05CB6C5-5C42-42F6-AFEE-6F8BB2C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oc-proof-text">
            <a:extLst xmlns:a="http://schemas.openxmlformats.org/drawingml/2006/main">
              <a:ext uri="{FF2B5EF4-FFF2-40B4-BE49-F238E27FC236}">
                <a16:creationId xmlns:a16="http://schemas.microsoft.com/office/drawing/2014/main" id="{0E869074-FC3C-482B-85D7-88747682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Подтверждает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правила и совместимость с корзиной</a:t>
            </a:r>
          </a:p>
        </p:txBody>
      </p:sp>
      <p:sp>
        <p:nvSpPr>
          <p:cNvPr id="23" name="poc-limit">
            <a:extLst xmlns:a="http://schemas.openxmlformats.org/drawingml/2006/main">
              <a:ext uri="{FF2B5EF4-FFF2-40B4-BE49-F238E27FC236}">
                <a16:creationId xmlns:a16="http://schemas.microsoft.com/office/drawing/2014/main" id="{B5CB685B-F59A-42C8-8547-FAC4F97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387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oc-limit-text">
            <a:extLst xmlns:a="http://schemas.openxmlformats.org/drawingml/2006/main">
              <a:ext uri="{FF2B5EF4-FFF2-40B4-BE49-F238E27FC236}">
                <a16:creationId xmlns:a16="http://schemas.microsoft.com/office/drawing/2014/main" id="{498DA5DB-C5D3-480D-8BB9-8053E9C7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Не подтверждает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спрос и uplift; review ещё впереди</a:t>
            </a:r>
          </a:p>
        </p:txBody>
      </p:sp>
    </p:spTree>
    <p:extLst>
      <p:ext uri="{BB962C8B-B14F-4D97-AF65-F5344CB8AC3E}">
        <p14:creationId xmlns:p14="http://schemas.microsoft.com/office/powerpoint/2010/main" val="158076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host-6">
            <a:extLst xmlns:a="http://schemas.openxmlformats.org/drawingml/2006/main">
              <a:ext uri="{FF2B5EF4-FFF2-40B4-BE49-F238E27FC236}">
                <a16:creationId xmlns:a16="http://schemas.microsoft.com/office/drawing/2014/main" id="{6D8A00B2-F6D4-463B-A808-19D92A3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F1654C6-54A0-4422-8DC8-1386D25E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Пилот A/B/C/D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859A549A-F4EB-42B5-9F59-19D175CA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Каждое сравнение отвечает на один продуктовый вопрос</a:t>
            </a:r>
          </a:p>
        </p:txBody>
      </p:sp>
      <p:sp>
        <p:nvSpPr>
          <p:cNvPr id="4" name="logo-box-6">
            <a:extLst xmlns:a="http://schemas.openxmlformats.org/drawingml/2006/main">
              <a:ext uri="{FF2B5EF4-FFF2-40B4-BE49-F238E27FC236}">
                <a16:creationId xmlns:a16="http://schemas.microsoft.com/office/drawing/2014/main" id="{C6B75EC6-401B-450B-90F4-2EEDD2AE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6">
            <a:extLst xmlns:a="http://schemas.openxmlformats.org/drawingml/2006/main">
              <a:ext uri="{FF2B5EF4-FFF2-40B4-BE49-F238E27FC236}">
                <a16:creationId xmlns:a16="http://schemas.microsoft.com/office/drawing/2014/main" id="{B5555A5C-1CB9-41E6-B216-595C36F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6">
            <a:extLst xmlns:a="http://schemas.openxmlformats.org/drawingml/2006/main">
              <a:ext uri="{FF2B5EF4-FFF2-40B4-BE49-F238E27FC236}">
                <a16:creationId xmlns:a16="http://schemas.microsoft.com/office/drawing/2014/main" id="{C1821625-68AE-4A30-A501-636E53C0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41604266-6DF0-4866-B527-55595FC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arm-box-0">
            <a:extLst xmlns:a="http://schemas.openxmlformats.org/drawingml/2006/main">
              <a:ext uri="{FF2B5EF4-FFF2-40B4-BE49-F238E27FC236}">
                <a16:creationId xmlns:a16="http://schemas.microsoft.com/office/drawing/2014/main" id="{2A635C8E-9A60-4FFD-A4A0-93F22F0F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m-letter-0">
            <a:extLst xmlns:a="http://schemas.openxmlformats.org/drawingml/2006/main">
              <a:ext uri="{FF2B5EF4-FFF2-40B4-BE49-F238E27FC236}">
                <a16:creationId xmlns:a16="http://schemas.microsoft.com/office/drawing/2014/main" id="{CCBD0428-E0F9-418E-9BB6-B6AC8D44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arm-head-0">
            <a:extLst xmlns:a="http://schemas.openxmlformats.org/drawingml/2006/main">
              <a:ext uri="{FF2B5EF4-FFF2-40B4-BE49-F238E27FC236}">
                <a16:creationId xmlns:a16="http://schemas.microsoft.com/office/drawing/2014/main" id="{6131872D-72B1-445C-8831-7752CA9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Текущий опыт</a:t>
            </a:r>
          </a:p>
        </p:txBody>
      </p:sp>
      <p:sp>
        <p:nvSpPr>
          <p:cNvPr id="11" name="arm-copy-0">
            <a:extLst xmlns:a="http://schemas.openxmlformats.org/drawingml/2006/main">
              <a:ext uri="{FF2B5EF4-FFF2-40B4-BE49-F238E27FC236}">
                <a16:creationId xmlns:a16="http://schemas.microsoft.com/office/drawing/2014/main" id="{AE5AAD89-628F-4B0A-9118-1B50776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Программа лояльности без новой механики</a:t>
            </a:r>
          </a:p>
        </p:txBody>
      </p:sp>
      <p:sp>
        <p:nvSpPr>
          <p:cNvPr id="12" name="arm-box-1">
            <a:extLst xmlns:a="http://schemas.openxmlformats.org/drawingml/2006/main">
              <a:ext uri="{FF2B5EF4-FFF2-40B4-BE49-F238E27FC236}">
                <a16:creationId xmlns:a16="http://schemas.microsoft.com/office/drawing/2014/main" id="{E5F34274-A198-4D82-A31D-C8D4B77F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m-letter-1">
            <a:extLst xmlns:a="http://schemas.openxmlformats.org/drawingml/2006/main">
              <a:ext uri="{FF2B5EF4-FFF2-40B4-BE49-F238E27FC236}">
                <a16:creationId xmlns:a16="http://schemas.microsoft.com/office/drawing/2014/main" id="{6035B418-D306-4CF2-AD37-70BB56A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arm-head-1">
            <a:extLst xmlns:a="http://schemas.openxmlformats.org/drawingml/2006/main">
              <a:ext uri="{FF2B5EF4-FFF2-40B4-BE49-F238E27FC236}">
                <a16:creationId xmlns:a16="http://schemas.microsoft.com/office/drawing/2014/main" id="{B17D3D41-E3E6-4DB2-938F-D7A662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Личная цель</a:t>
            </a:r>
          </a:p>
        </p:txBody>
      </p:sp>
      <p:sp>
        <p:nvSpPr>
          <p:cNvPr id="15" name="arm-copy-1">
            <a:extLst xmlns:a="http://schemas.openxmlformats.org/drawingml/2006/main">
              <a:ext uri="{FF2B5EF4-FFF2-40B4-BE49-F238E27FC236}">
                <a16:creationId xmlns:a16="http://schemas.microsoft.com/office/drawing/2014/main" id="{7D719A15-E247-44A2-86B4-2C60EF6B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Персональная цель и прозрачная экономия</a:t>
            </a:r>
          </a:p>
        </p:txBody>
      </p:sp>
      <p:sp>
        <p:nvSpPr>
          <p:cNvPr id="16" name="arm-box-2">
            <a:extLst xmlns:a="http://schemas.openxmlformats.org/drawingml/2006/main">
              <a:ext uri="{FF2B5EF4-FFF2-40B4-BE49-F238E27FC236}">
                <a16:creationId xmlns:a16="http://schemas.microsoft.com/office/drawing/2014/main" id="{AFEAEC49-90D1-4D31-86F8-753A33B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m-letter-2">
            <a:extLst xmlns:a="http://schemas.openxmlformats.org/drawingml/2006/main">
              <a:ext uri="{FF2B5EF4-FFF2-40B4-BE49-F238E27FC236}">
                <a16:creationId xmlns:a16="http://schemas.microsoft.com/office/drawing/2014/main" id="{34ACA4C4-FFCE-48A1-9DAF-8EC14C0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arm-head-2">
            <a:extLst xmlns:a="http://schemas.openxmlformats.org/drawingml/2006/main">
              <a:ext uri="{FF2B5EF4-FFF2-40B4-BE49-F238E27FC236}">
                <a16:creationId xmlns:a16="http://schemas.microsoft.com/office/drawing/2014/main" id="{82006397-54D4-4BBA-A75C-E484900F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Семейная сумма</a:t>
            </a:r>
          </a:p>
        </p:txBody>
      </p:sp>
      <p:sp>
        <p:nvSpPr>
          <p:cNvPr id="19" name="arm-copy-2">
            <a:extLst xmlns:a="http://schemas.openxmlformats.org/drawingml/2006/main">
              <a:ext uri="{FF2B5EF4-FFF2-40B4-BE49-F238E27FC236}">
                <a16:creationId xmlns:a16="http://schemas.microsoft.com/office/drawing/2014/main" id="{7F89B0EC-0BC8-437B-9764-211EBE8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Та же цель и награда, общий результат в рублях</a:t>
            </a:r>
          </a:p>
        </p:txBody>
      </p:sp>
      <p:sp>
        <p:nvSpPr>
          <p:cNvPr id="20" name="arm-box-3">
            <a:extLst xmlns:a="http://schemas.openxmlformats.org/drawingml/2006/main">
              <a:ext uri="{FF2B5EF4-FFF2-40B4-BE49-F238E27FC236}">
                <a16:creationId xmlns:a16="http://schemas.microsoft.com/office/drawing/2014/main" id="{2FB52FB0-9CB9-45D3-BC3C-CA511D2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333625" cy="2381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m-letter-3">
            <a:extLst xmlns:a="http://schemas.openxmlformats.org/drawingml/2006/main">
              <a:ext uri="{FF2B5EF4-FFF2-40B4-BE49-F238E27FC236}">
                <a16:creationId xmlns:a16="http://schemas.microsoft.com/office/drawing/2014/main" id="{F54F286B-636A-4E54-B44B-D997F48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arm-head-3">
            <a:extLst xmlns:a="http://schemas.openxmlformats.org/drawingml/2006/main">
              <a:ext uri="{FF2B5EF4-FFF2-40B4-BE49-F238E27FC236}">
                <a16:creationId xmlns:a16="http://schemas.microsoft.com/office/drawing/2014/main" id="{FA98685C-A391-4733-A84A-AB928F1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Ростомер</a:t>
            </a:r>
          </a:p>
        </p:txBody>
      </p:sp>
      <p:sp>
        <p:nvSpPr>
          <p:cNvPr id="23" name="arm-copy-3">
            <a:extLst xmlns:a="http://schemas.openxmlformats.org/drawingml/2006/main">
              <a:ext uri="{FF2B5EF4-FFF2-40B4-BE49-F238E27FC236}">
                <a16:creationId xmlns:a16="http://schemas.microsoft.com/office/drawing/2014/main" id="{0C01D765-91A5-479B-8831-D98B21F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990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ADDE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ADDE2"/>
                </a:solidFill>
                <a:latin typeface="Arial"/>
                <a:ea typeface="Arial"/>
                <a:cs typeface="Arial"/>
              </a:rPr>
              <a:t>Полностью тот же C с ростомером и вехами</a:t>
            </a:r>
          </a:p>
        </p:txBody>
      </p:sp>
      <p:sp>
        <p:nvSpPr>
          <p:cNvPr id="24" name="compare-1">
            <a:extLst xmlns:a="http://schemas.openxmlformats.org/drawingml/2006/main">
              <a:ext uri="{FF2B5EF4-FFF2-40B4-BE49-F238E27FC236}">
                <a16:creationId xmlns:a16="http://schemas.microsoft.com/office/drawing/2014/main" id="{E259E274-CDD5-46DE-B5C9-BC985FC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B − A</a:t>
            </a:r>
          </a:p>
        </p:txBody>
      </p:sp>
      <p:sp>
        <p:nvSpPr>
          <p:cNvPr id="25" name="compare-1c">
            <a:extLst xmlns:a="http://schemas.openxmlformats.org/drawingml/2006/main">
              <a:ext uri="{FF2B5EF4-FFF2-40B4-BE49-F238E27FC236}">
                <a16:creationId xmlns:a16="http://schemas.microsoft.com/office/drawing/2014/main" id="{D10DDA13-0342-4302-A148-6585E2FE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цели</a:t>
            </a:r>
          </a:p>
        </p:txBody>
      </p:sp>
      <p:sp>
        <p:nvSpPr>
          <p:cNvPr id="26" name="compare-2">
            <a:extLst xmlns:a="http://schemas.openxmlformats.org/drawingml/2006/main">
              <a:ext uri="{FF2B5EF4-FFF2-40B4-BE49-F238E27FC236}">
                <a16:creationId xmlns:a16="http://schemas.microsoft.com/office/drawing/2014/main" id="{4A9594CE-0CA9-4B9E-B34E-9A678194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C − B</a:t>
            </a:r>
          </a:p>
        </p:txBody>
      </p:sp>
      <p:sp>
        <p:nvSpPr>
          <p:cNvPr id="27" name="compare-2c">
            <a:extLst xmlns:a="http://schemas.openxmlformats.org/drawingml/2006/main">
              <a:ext uri="{FF2B5EF4-FFF2-40B4-BE49-F238E27FC236}">
                <a16:creationId xmlns:a16="http://schemas.microsoft.com/office/drawing/2014/main" id="{779012DD-ABA5-4B07-8407-6747B2F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объединения</a:t>
            </a:r>
          </a:p>
        </p:txBody>
      </p:sp>
      <p:sp>
        <p:nvSpPr>
          <p:cNvPr id="28" name="compare-3">
            <a:extLst xmlns:a="http://schemas.openxmlformats.org/drawingml/2006/main">
              <a:ext uri="{FF2B5EF4-FFF2-40B4-BE49-F238E27FC236}">
                <a16:creationId xmlns:a16="http://schemas.microsoft.com/office/drawing/2014/main" id="{2041AD59-39E7-4A94-B6C1-E147EDB9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95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 − C</a:t>
            </a:r>
          </a:p>
        </p:txBody>
      </p:sp>
      <p:sp>
        <p:nvSpPr>
          <p:cNvPr id="29" name="compare-3c">
            <a:extLst xmlns:a="http://schemas.openxmlformats.org/drawingml/2006/main">
              <a:ext uri="{FF2B5EF4-FFF2-40B4-BE49-F238E27FC236}">
                <a16:creationId xmlns:a16="http://schemas.microsoft.com/office/drawing/2014/main" id="{4DEE879A-D1EF-45C2-9E64-C840ED4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эффект игры</a:t>
            </a:r>
          </a:p>
        </p:txBody>
      </p:sp>
      <p:sp>
        <p:nvSpPr>
          <p:cNvPr id="30" name="pilot-metric">
            <a:extLst xmlns:a="http://schemas.openxmlformats.org/drawingml/2006/main">
              <a:ext uri="{FF2B5EF4-FFF2-40B4-BE49-F238E27FC236}">
                <a16:creationId xmlns:a16="http://schemas.microsoft.com/office/drawing/2014/main" id="{D179C645-1947-424A-B403-BBBA0D7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309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lot-metric-head">
            <a:extLst xmlns:a="http://schemas.openxmlformats.org/drawingml/2006/main">
              <a:ext uri="{FF2B5EF4-FFF2-40B4-BE49-F238E27FC236}">
                <a16:creationId xmlns:a16="http://schemas.microsoft.com/office/drawing/2014/main" id="{67F3920A-FCF8-4677-8495-14AF27B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32" name="pilot-metric-text">
            <a:extLst xmlns:a="http://schemas.openxmlformats.org/drawingml/2006/main">
              <a:ext uri="{FF2B5EF4-FFF2-40B4-BE49-F238E27FC236}">
                <a16:creationId xmlns:a16="http://schemas.microsoft.com/office/drawing/2014/main" id="{90844A26-AC9F-4A92-928D-27BD3DF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Покупочные дни на семью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за 28 дней, ITT</a:t>
            </a:r>
          </a:p>
        </p:txBody>
      </p:sp>
      <p:sp>
        <p:nvSpPr>
          <p:cNvPr id="33" name="pilot-guards">
            <a:extLst xmlns:a="http://schemas.openxmlformats.org/drawingml/2006/main">
              <a:ext uri="{FF2B5EF4-FFF2-40B4-BE49-F238E27FC236}">
                <a16:creationId xmlns:a16="http://schemas.microsoft.com/office/drawing/2014/main" id="{01253411-EFD7-48C7-B009-3B9D997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Guardrails: contribution margin после награды, жалобы, неначисления, возвраты</a:t>
            </a:r>
          </a:p>
        </p:txBody>
      </p:sp>
    </p:spTree>
    <p:extLst>
      <p:ext uri="{BB962C8B-B14F-4D97-AF65-F5344CB8AC3E}">
        <p14:creationId xmlns:p14="http://schemas.microsoft.com/office/powerpoint/2010/main" val="813656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host-7">
            <a:extLst xmlns:a="http://schemas.openxmlformats.org/drawingml/2006/main">
              <a:ext uri="{FF2B5EF4-FFF2-40B4-BE49-F238E27FC236}">
                <a16:creationId xmlns:a16="http://schemas.microsoft.com/office/drawing/2014/main" id="{DB714C23-90A7-43C2-85E2-34ABCD9D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6AE08E8-ED19-4935-9EFF-5A7842EE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 менеджера программы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28ADA61F-8784-4EB7-BF1B-340E9AE1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Пилот связывает сегмент, чековые события, экономику и безопасную раскатку</a:t>
            </a:r>
          </a:p>
        </p:txBody>
      </p:sp>
      <p:sp>
        <p:nvSpPr>
          <p:cNvPr id="4" name="logo-box-7">
            <a:extLst xmlns:a="http://schemas.openxmlformats.org/drawingml/2006/main">
              <a:ext uri="{FF2B5EF4-FFF2-40B4-BE49-F238E27FC236}">
                <a16:creationId xmlns:a16="http://schemas.microsoft.com/office/drawing/2014/main" id="{0E439977-8ED0-4210-A607-1193C6F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7">
            <a:extLst xmlns:a="http://schemas.openxmlformats.org/drawingml/2006/main">
              <a:ext uri="{FF2B5EF4-FFF2-40B4-BE49-F238E27FC236}">
                <a16:creationId xmlns:a16="http://schemas.microsoft.com/office/drawing/2014/main" id="{FE6CCC3F-ECA2-4E00-A9A9-82F5983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7">
            <a:extLst xmlns:a="http://schemas.openxmlformats.org/drawingml/2006/main">
              <a:ext uri="{FF2B5EF4-FFF2-40B4-BE49-F238E27FC236}">
                <a16:creationId xmlns:a16="http://schemas.microsoft.com/office/drawing/2014/main" id="{858BFE9C-D338-4AF0-A88E-DFF88361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2DD04995-B055-4570-A161-CAB16907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manager-job-label">
            <a:extLst xmlns:a="http://schemas.openxmlformats.org/drawingml/2006/main">
              <a:ext uri="{FF2B5EF4-FFF2-40B4-BE49-F238E27FC236}">
                <a16:creationId xmlns:a16="http://schemas.microsoft.com/office/drawing/2014/main" id="{44AF4BB7-08BF-4A87-B1DC-5DFA798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AJTBD МЕНЕДЖЕРА</a:t>
            </a:r>
          </a:p>
        </p:txBody>
      </p:sp>
      <p:sp>
        <p:nvSpPr>
          <p:cNvPr id="9" name="manager-job">
            <a:extLst xmlns:a="http://schemas.openxmlformats.org/drawingml/2006/main">
              <a:ext uri="{FF2B5EF4-FFF2-40B4-BE49-F238E27FC236}">
                <a16:creationId xmlns:a16="http://schemas.microsoft.com/office/drawing/2014/main" id="{11D21840-ED8D-4922-89BE-4A7388E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Настроить механику для выбранного контекста, безопасно раскатить пилот и решить, что масштабировать</a:t>
            </a:r>
          </a:p>
        </p:txBody>
      </p:sp>
      <p:sp>
        <p:nvSpPr>
          <p:cNvPr id="10" name="chain-num-0">
            <a:extLst xmlns:a="http://schemas.openxmlformats.org/drawingml/2006/main">
              <a:ext uri="{FF2B5EF4-FFF2-40B4-BE49-F238E27FC236}">
                <a16:creationId xmlns:a16="http://schemas.microsoft.com/office/drawing/2014/main" id="{EEAC76A6-EC5D-4132-9983-64C2AA9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chain-head-0">
            <a:extLst xmlns:a="http://schemas.openxmlformats.org/drawingml/2006/main">
              <a:ext uri="{FF2B5EF4-FFF2-40B4-BE49-F238E27FC236}">
                <a16:creationId xmlns:a16="http://schemas.microsoft.com/office/drawing/2014/main" id="{30768999-5873-4F29-9A65-B75CB3F5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Профиль + Job</a:t>
            </a:r>
          </a:p>
        </p:txBody>
      </p:sp>
      <p:sp>
        <p:nvSpPr>
          <p:cNvPr id="12" name="chain-copy-0">
            <a:extLst xmlns:a="http://schemas.openxmlformats.org/drawingml/2006/main">
              <a:ext uri="{FF2B5EF4-FFF2-40B4-BE49-F238E27FC236}">
                <a16:creationId xmlns:a16="http://schemas.microsoft.com/office/drawing/2014/main" id="{12ACF97A-8330-4815-A22D-4BA98BA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eligibility</a:t>
            </a:r>
          </a:p>
        </p:txBody>
      </p:sp>
      <p:sp>
        <p:nvSpPr>
          <p:cNvPr id="13" name="rule-670-226">
            <a:extLst xmlns:a="http://schemas.openxmlformats.org/drawingml/2006/main">
              <a:ext uri="{FF2B5EF4-FFF2-40B4-BE49-F238E27FC236}">
                <a16:creationId xmlns:a16="http://schemas.microsoft.com/office/drawing/2014/main" id="{959B3C51-97A6-4722-B15C-930362D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in-num-1">
            <a:extLst xmlns:a="http://schemas.openxmlformats.org/drawingml/2006/main">
              <a:ext uri="{FF2B5EF4-FFF2-40B4-BE49-F238E27FC236}">
                <a16:creationId xmlns:a16="http://schemas.microsoft.com/office/drawing/2014/main" id="{7ACB62D9-4BBC-4BD5-ADCC-2C04BEB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chain-head-1">
            <a:extLst xmlns:a="http://schemas.openxmlformats.org/drawingml/2006/main">
              <a:ext uri="{FF2B5EF4-FFF2-40B4-BE49-F238E27FC236}">
                <a16:creationId xmlns:a16="http://schemas.microsoft.com/office/drawing/2014/main" id="{53E6A35C-BC8F-4DAF-8B9D-1E3BCB22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Вариант + правила</a:t>
            </a:r>
          </a:p>
        </p:txBody>
      </p:sp>
      <p:sp>
        <p:nvSpPr>
          <p:cNvPr id="16" name="chain-copy-1">
            <a:extLst xmlns:a="http://schemas.openxmlformats.org/drawingml/2006/main">
              <a:ext uri="{FF2B5EF4-FFF2-40B4-BE49-F238E27FC236}">
                <a16:creationId xmlns:a16="http://schemas.microsoft.com/office/drawing/2014/main" id="{56F0C250-4D86-470F-A5D5-2578E96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когорта и rollout</a:t>
            </a:r>
          </a:p>
        </p:txBody>
      </p:sp>
      <p:sp>
        <p:nvSpPr>
          <p:cNvPr id="17" name="rule-670-318">
            <a:extLst xmlns:a="http://schemas.openxmlformats.org/drawingml/2006/main">
              <a:ext uri="{FF2B5EF4-FFF2-40B4-BE49-F238E27FC236}">
                <a16:creationId xmlns:a16="http://schemas.microsoft.com/office/drawing/2014/main" id="{B2F99F9E-8156-402B-B215-428F626A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num-2">
            <a:extLst xmlns:a="http://schemas.openxmlformats.org/drawingml/2006/main">
              <a:ext uri="{FF2B5EF4-FFF2-40B4-BE49-F238E27FC236}">
                <a16:creationId xmlns:a16="http://schemas.microsoft.com/office/drawing/2014/main" id="{998A5D53-6450-4DFE-8AF7-A2CB006C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chain-head-2">
            <a:extLst xmlns:a="http://schemas.openxmlformats.org/drawingml/2006/main">
              <a:ext uri="{FF2B5EF4-FFF2-40B4-BE49-F238E27FC236}">
                <a16:creationId xmlns:a16="http://schemas.microsoft.com/office/drawing/2014/main" id="{2A820EA3-396D-4BAD-B9BA-BDE818C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Чековые события</a:t>
            </a:r>
          </a:p>
        </p:txBody>
      </p:sp>
      <p:sp>
        <p:nvSpPr>
          <p:cNvPr id="20" name="chain-copy-2">
            <a:extLst xmlns:a="http://schemas.openxmlformats.org/drawingml/2006/main">
              <a:ext uri="{FF2B5EF4-FFF2-40B4-BE49-F238E27FC236}">
                <a16:creationId xmlns:a16="http://schemas.microsoft.com/office/drawing/2014/main" id="{23DC1814-AEF8-46E6-901A-E836542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дубли и отмены</a:t>
            </a:r>
          </a:p>
        </p:txBody>
      </p:sp>
      <p:sp>
        <p:nvSpPr>
          <p:cNvPr id="21" name="rule-670-410">
            <a:extLst xmlns:a="http://schemas.openxmlformats.org/drawingml/2006/main">
              <a:ext uri="{FF2B5EF4-FFF2-40B4-BE49-F238E27FC236}">
                <a16:creationId xmlns:a16="http://schemas.microsoft.com/office/drawing/2014/main" id="{308B6E07-DE59-457F-B47C-15F6B9B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num-3">
            <a:extLst xmlns:a="http://schemas.openxmlformats.org/drawingml/2006/main">
              <a:ext uri="{FF2B5EF4-FFF2-40B4-BE49-F238E27FC236}">
                <a16:creationId xmlns:a16="http://schemas.microsoft.com/office/drawing/2014/main" id="{67B81DDC-F66A-49E9-A357-FB23973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chain-head-3">
            <a:extLst xmlns:a="http://schemas.openxmlformats.org/drawingml/2006/main">
              <a:ext uri="{FF2B5EF4-FFF2-40B4-BE49-F238E27FC236}">
                <a16:creationId xmlns:a16="http://schemas.microsoft.com/office/drawing/2014/main" id="{A4D5BF97-73FC-4E87-88B1-8C50A56A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4" name="chain-copy-3">
            <a:extLst xmlns:a="http://schemas.openxmlformats.org/drawingml/2006/main">
              <a:ext uri="{FF2B5EF4-FFF2-40B4-BE49-F238E27FC236}">
                <a16:creationId xmlns:a16="http://schemas.microsoft.com/office/drawing/2014/main" id="{C1EB15EB-7761-49CB-9309-7897DAFA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scale / change / stop / rollback</a:t>
            </a:r>
          </a:p>
        </p:txBody>
      </p:sp>
      <p:sp>
        <p:nvSpPr>
          <p:cNvPr id="25" name="economics">
            <a:extLst xmlns:a="http://schemas.openxmlformats.org/drawingml/2006/main">
              <a:ext uri="{FF2B5EF4-FFF2-40B4-BE49-F238E27FC236}">
                <a16:creationId xmlns:a16="http://schemas.microsoft.com/office/drawing/2014/main" id="{8A944CA5-93E8-4AC3-8D04-82592C7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conomics-label">
            <a:extLst xmlns:a="http://schemas.openxmlformats.org/drawingml/2006/main">
              <a:ext uri="{FF2B5EF4-FFF2-40B4-BE49-F238E27FC236}">
                <a16:creationId xmlns:a16="http://schemas.microsoft.com/office/drawing/2014/main" id="{252CB4CD-34DC-48C2-80E2-8A95B1BC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ЭКОНОМИКА</a:t>
            </a:r>
          </a:p>
        </p:txBody>
      </p:sp>
      <p:sp>
        <p:nvSpPr>
          <p:cNvPr id="27" name="economics-formula">
            <a:extLst xmlns:a="http://schemas.openxmlformats.org/drawingml/2006/main">
              <a:ext uri="{FF2B5EF4-FFF2-40B4-BE49-F238E27FC236}">
                <a16:creationId xmlns:a16="http://schemas.microsoft.com/office/drawing/2014/main" id="{8BBDE65A-ACFA-448B-8DBF-9ACAAC8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Net value = incremental contribution margin − награды − переменные затраты</a:t>
            </a:r>
          </a:p>
        </p:txBody>
      </p:sp>
      <p:sp>
        <p:nvSpPr>
          <p:cNvPr id="28" name="decision">
            <a:extLst xmlns:a="http://schemas.openxmlformats.org/drawingml/2006/main">
              <a:ext uri="{FF2B5EF4-FFF2-40B4-BE49-F238E27FC236}">
                <a16:creationId xmlns:a16="http://schemas.microsoft.com/office/drawing/2014/main" id="{20642316-246B-4477-993E-2FD18468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D масштабируется только при D &gt; C, положительной экономике и допустимых guardrails</a:t>
            </a:r>
          </a:p>
        </p:txBody>
      </p:sp>
    </p:spTree>
    <p:extLst>
      <p:ext uri="{BB962C8B-B14F-4D97-AF65-F5344CB8AC3E}">
        <p14:creationId xmlns:p14="http://schemas.microsoft.com/office/powerpoint/2010/main" val="60335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host-8">
            <a:extLst xmlns:a="http://schemas.openxmlformats.org/drawingml/2006/main">
              <a:ext uri="{FF2B5EF4-FFF2-40B4-BE49-F238E27FC236}">
                <a16:creationId xmlns:a16="http://schemas.microsoft.com/office/drawing/2014/main" id="{A7854FBC-D86C-4AA7-964D-A4DFE42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0" b="0">
                <a:solidFill>
                  <a:srgbClr val="F1F2F5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1F2F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2253A8E-E845-4C4C-A05C-D69C358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Команда и итоговая версия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8DE9EF2C-5C68-4C50-946E-A2D504C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Сквозной сценарий проверен в коде, API и браузере; человеческая оценка — следующий шаг</a:t>
            </a:r>
          </a:p>
        </p:txBody>
      </p:sp>
      <p:sp>
        <p:nvSpPr>
          <p:cNvPr id="4" name="logo-box-8">
            <a:extLst xmlns:a="http://schemas.openxmlformats.org/drawingml/2006/main">
              <a:ext uri="{FF2B5EF4-FFF2-40B4-BE49-F238E27FC236}">
                <a16:creationId xmlns:a16="http://schemas.microsoft.com/office/drawing/2014/main" id="{F07A2719-147B-4CE5-8D31-0188FDD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ai-8">
            <a:extLst xmlns:a="http://schemas.openxmlformats.org/drawingml/2006/main">
              <a:ext uri="{FF2B5EF4-FFF2-40B4-BE49-F238E27FC236}">
                <a16:creationId xmlns:a16="http://schemas.microsoft.com/office/drawing/2014/main" id="{C4A4CD8F-6FE7-448D-8686-25DADC2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43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6" name="logo-text-8">
            <a:extLst xmlns:a="http://schemas.openxmlformats.org/drawingml/2006/main">
              <a:ext uri="{FF2B5EF4-FFF2-40B4-BE49-F238E27FC236}">
                <a16:creationId xmlns:a16="http://schemas.microsoft.com/office/drawing/2014/main" id="{2681479A-1523-47F1-AD79-8D5FD04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Talent Hub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4F1EC768-5ECF-4AF2-9387-F6F3EAF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team-num-0">
            <a:extLst xmlns:a="http://schemas.openxmlformats.org/drawingml/2006/main">
              <a:ext uri="{FF2B5EF4-FFF2-40B4-BE49-F238E27FC236}">
                <a16:creationId xmlns:a16="http://schemas.microsoft.com/office/drawing/2014/main" id="{C43D75C9-7151-49D4-B245-3156BA2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am-name-0">
            <a:extLst xmlns:a="http://schemas.openxmlformats.org/drawingml/2006/main">
              <a:ext uri="{FF2B5EF4-FFF2-40B4-BE49-F238E27FC236}">
                <a16:creationId xmlns:a16="http://schemas.microsoft.com/office/drawing/2014/main" id="{23801004-BC81-4F1C-BA88-25E7FF6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Талалаев Иван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Владимирович</a:t>
            </a:r>
          </a:p>
        </p:txBody>
      </p:sp>
      <p:sp>
        <p:nvSpPr>
          <p:cNvPr id="10" name="team-role-0">
            <a:extLst xmlns:a="http://schemas.openxmlformats.org/drawingml/2006/main">
              <a:ext uri="{FF2B5EF4-FFF2-40B4-BE49-F238E27FC236}">
                <a16:creationId xmlns:a16="http://schemas.microsoft.com/office/drawing/2014/main" id="{41B9219F-CED8-4B4A-9A52-2472C2F8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PRODUCT MANAGER · активное</a:t>
            </a:r>
          </a:p>
        </p:txBody>
      </p:sp>
      <p:sp>
        <p:nvSpPr>
          <p:cNvPr id="11" name="team-task-0">
            <a:extLst xmlns:a="http://schemas.openxmlformats.org/drawingml/2006/main">
              <a:ext uri="{FF2B5EF4-FFF2-40B4-BE49-F238E27FC236}">
                <a16:creationId xmlns:a16="http://schemas.microsoft.com/office/drawing/2014/main" id="{EA9C7631-1980-47EF-A7D4-2B11745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Доказательства, пилот, экономика, сценарий защиты</a:t>
            </a:r>
          </a:p>
        </p:txBody>
      </p:sp>
      <p:sp>
        <p:nvSpPr>
          <p:cNvPr id="12" name="rule-385-184">
            <a:extLst xmlns:a="http://schemas.openxmlformats.org/drawingml/2006/main">
              <a:ext uri="{FF2B5EF4-FFF2-40B4-BE49-F238E27FC236}">
                <a16:creationId xmlns:a16="http://schemas.microsoft.com/office/drawing/2014/main" id="{75D18992-3BBB-4994-8A2A-ABF516A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52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am-num-1">
            <a:extLst xmlns:a="http://schemas.openxmlformats.org/drawingml/2006/main">
              <a:ext uri="{FF2B5EF4-FFF2-40B4-BE49-F238E27FC236}">
                <a16:creationId xmlns:a16="http://schemas.microsoft.com/office/drawing/2014/main" id="{1A683162-9AA3-4D5F-B389-34991B80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am-name-1">
            <a:extLst xmlns:a="http://schemas.openxmlformats.org/drawingml/2006/main">
              <a:ext uri="{FF2B5EF4-FFF2-40B4-BE49-F238E27FC236}">
                <a16:creationId xmlns:a16="http://schemas.microsoft.com/office/drawing/2014/main" id="{83019298-A44E-4AB6-AC87-A61FA6D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Тищенко Егор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Валерьевич</a:t>
            </a:r>
          </a:p>
        </p:txBody>
      </p:sp>
      <p:sp>
        <p:nvSpPr>
          <p:cNvPr id="15" name="team-role-1">
            <a:extLst xmlns:a="http://schemas.openxmlformats.org/drawingml/2006/main">
              <a:ext uri="{FF2B5EF4-FFF2-40B4-BE49-F238E27FC236}">
                <a16:creationId xmlns:a16="http://schemas.microsoft.com/office/drawing/2014/main" id="{6AC9B65A-D8F5-4F5E-B0A5-540DFEC0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ML ENGINEER · активное</a:t>
            </a:r>
          </a:p>
        </p:txBody>
      </p:sp>
      <p:sp>
        <p:nvSpPr>
          <p:cNvPr id="16" name="team-task-1">
            <a:extLst xmlns:a="http://schemas.openxmlformats.org/drawingml/2006/main">
              <a:ext uri="{FF2B5EF4-FFF2-40B4-BE49-F238E27FC236}">
                <a16:creationId xmlns:a16="http://schemas.microsoft.com/office/drawing/2014/main" id="{E4451AF6-7393-441C-82A6-16AE022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Данные, target-когорта, качество, сценарии</a:t>
            </a:r>
          </a:p>
        </p:txBody>
      </p:sp>
      <p:sp>
        <p:nvSpPr>
          <p:cNvPr id="17" name="rule-755-184">
            <a:extLst xmlns:a="http://schemas.openxmlformats.org/drawingml/2006/main">
              <a:ext uri="{FF2B5EF4-FFF2-40B4-BE49-F238E27FC236}">
                <a16:creationId xmlns:a16="http://schemas.microsoft.com/office/drawing/2014/main" id="{FFB7185B-5757-4388-93A6-324FDEAD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52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am-num-2">
            <a:extLst xmlns:a="http://schemas.openxmlformats.org/drawingml/2006/main">
              <a:ext uri="{FF2B5EF4-FFF2-40B4-BE49-F238E27FC236}">
                <a16:creationId xmlns:a16="http://schemas.microsoft.com/office/drawing/2014/main" id="{85F720B2-7B6A-4436-B4A5-F76EA5D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am-name-2">
            <a:extLst xmlns:a="http://schemas.openxmlformats.org/drawingml/2006/main">
              <a:ext uri="{FF2B5EF4-FFF2-40B4-BE49-F238E27FC236}">
                <a16:creationId xmlns:a16="http://schemas.microsoft.com/office/drawing/2014/main" id="{9CC2C262-9CD8-4284-9D8D-1D7C13D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Сухова Софья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Николаевна</a:t>
            </a:r>
          </a:p>
        </p:txBody>
      </p:sp>
      <p:sp>
        <p:nvSpPr>
          <p:cNvPr id="20" name="team-role-2">
            <a:extLst xmlns:a="http://schemas.openxmlformats.org/drawingml/2006/main">
              <a:ext uri="{FF2B5EF4-FFF2-40B4-BE49-F238E27FC236}">
                <a16:creationId xmlns:a16="http://schemas.microsoft.com/office/drawing/2014/main" id="{7D3B7690-45D7-4B9A-93A1-2EA89F3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A6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51"/>
                </a:solidFill>
                <a:latin typeface="Arial"/>
                <a:ea typeface="Arial"/>
                <a:cs typeface="Arial"/>
              </a:rPr>
              <a:t>ML ENGINEER · активное</a:t>
            </a:r>
          </a:p>
        </p:txBody>
      </p:sp>
      <p:sp>
        <p:nvSpPr>
          <p:cNvPr id="21" name="team-task-2">
            <a:extLst xmlns:a="http://schemas.openxmlformats.org/drawingml/2006/main">
              <a:ext uri="{FF2B5EF4-FFF2-40B4-BE49-F238E27FC236}">
                <a16:creationId xmlns:a16="http://schemas.microsoft.com/office/drawing/2014/main" id="{F7415DAD-E0E5-415D-8428-4EE3BB6E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Персонализатор, baseline, eval, интеграция</a:t>
            </a:r>
          </a:p>
        </p:txBody>
      </p:sp>
      <p:sp>
        <p:nvSpPr>
          <p:cNvPr id="22" name="next-result">
            <a:extLst xmlns:a="http://schemas.openxmlformats.org/drawingml/2006/main">
              <a:ext uri="{FF2B5EF4-FFF2-40B4-BE49-F238E27FC236}">
                <a16:creationId xmlns:a16="http://schemas.microsoft.com/office/drawing/2014/main" id="{8EEFAA82-6AA8-4477-95F2-760782A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57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ext-result-text">
            <a:extLst xmlns:a="http://schemas.openxmlformats.org/drawingml/2006/main">
              <a:ext uri="{FF2B5EF4-FFF2-40B4-BE49-F238E27FC236}">
                <a16:creationId xmlns:a16="http://schemas.microsoft.com/office/drawing/2014/main" id="{0AB617F8-9427-4D35-9832-7282B636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4F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4F12"/>
                </a:solidFill>
                <a:latin typeface="Arial"/>
                <a:ea typeface="Arial"/>
                <a:cs typeface="Arial"/>
              </a:rPr>
              <a:t>Готово: чек → цель → награда; повтор без дубля, возврат с пересчётом. Далее: human review и пилот</a:t>
            </a:r>
          </a:p>
        </p:txBody>
      </p:sp>
      <p:sp>
        <p:nvSpPr>
          <p:cNvPr id="24" name="ai-process">
            <a:extLst xmlns:a="http://schemas.openxmlformats.org/drawingml/2006/main">
              <a:ext uri="{FF2B5EF4-FFF2-40B4-BE49-F238E27FC236}">
                <a16:creationId xmlns:a16="http://schemas.microsoft.com/office/drawing/2014/main" id="{88821852-D415-40D6-AABA-0F40B9E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7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078"/>
                </a:solidFill>
                <a:latin typeface="Arial"/>
                <a:ea typeface="Arial"/>
                <a:cs typeface="Arial"/>
              </a:rPr>
              <a:t>Все трое активно участвовали; точные трудозатраты не измерялись. AI помог с исследованием, кодом, тестами и финальной интеграцией</a:t>
            </a:r>
          </a:p>
        </p:txBody>
      </p:sp>
    </p:spTree>
    <p:extLst>
      <p:ext uri="{BB962C8B-B14F-4D97-AF65-F5344CB8AC3E}">
        <p14:creationId xmlns:p14="http://schemas.microsoft.com/office/powerpoint/2010/main" val="1551359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2026-09-06T14:31:34.8900000Z</dcterms:created>
  <dcterms:modified xsi:type="dcterms:W3CDTF">2026-09-06T14:31:34.8900000Z</dcterms:modified>
</coreProperties>
</file>